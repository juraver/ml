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av" ContentType="audio/x-wav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30"/>
  </p:notesMasterIdLst>
  <p:sldIdLst>
    <p:sldId id="256" r:id="rId3"/>
    <p:sldId id="258" r:id="rId4"/>
    <p:sldId id="259" r:id="rId5"/>
    <p:sldId id="299" r:id="rId6"/>
    <p:sldId id="261" r:id="rId7"/>
    <p:sldId id="300" r:id="rId8"/>
    <p:sldId id="301" r:id="rId9"/>
    <p:sldId id="302" r:id="rId10"/>
    <p:sldId id="304" r:id="rId11"/>
    <p:sldId id="308" r:id="rId12"/>
    <p:sldId id="307" r:id="rId13"/>
    <p:sldId id="309" r:id="rId14"/>
    <p:sldId id="310" r:id="rId15"/>
    <p:sldId id="311" r:id="rId16"/>
    <p:sldId id="313" r:id="rId17"/>
    <p:sldId id="322" r:id="rId18"/>
    <p:sldId id="316" r:id="rId19"/>
    <p:sldId id="317" r:id="rId20"/>
    <p:sldId id="314" r:id="rId21"/>
    <p:sldId id="312" r:id="rId22"/>
    <p:sldId id="315" r:id="rId23"/>
    <p:sldId id="321" r:id="rId24"/>
    <p:sldId id="318" r:id="rId25"/>
    <p:sldId id="319" r:id="rId26"/>
    <p:sldId id="264" r:id="rId27"/>
    <p:sldId id="265" r:id="rId28"/>
    <p:sldId id="266" r:id="rId29"/>
  </p:sldIdLst>
  <p:sldSz cx="9144000" cy="5143500" type="screen16x9"/>
  <p:notesSz cx="6858000" cy="9144000"/>
  <p:embeddedFontLst>
    <p:embeddedFont>
      <p:font typeface="Roboto Medium" panose="020B060402020202020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Robot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7A7BC-8981-49FC-8D4F-ABEBFE59864A}">
  <a:tblStyle styleId="{5417A7BC-8981-49FC-8D4F-ABEBFE5986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7" autoAdjust="0"/>
    <p:restoredTop sz="94660"/>
  </p:normalViewPr>
  <p:slideViewPr>
    <p:cSldViewPr snapToGrid="0">
      <p:cViewPr varScale="1">
        <p:scale>
          <a:sx n="95" d="100"/>
          <a:sy n="95" d="100"/>
        </p:scale>
        <p:origin x="62" y="52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записей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dLbl>
              <c:idx val="0"/>
              <c:layout/>
              <c:tx>
                <c:rich>
                  <a:bodyPr/>
                  <a:lstStyle/>
                  <a:p>
                    <a:fld id="{7B02C5B6-E4D4-4899-A1A3-E09D27D45C07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B09DCCEC-38EB-468F-BDB4-92973838668C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fld id="{6FC9C07A-1D5F-4171-BF07-0ED1306AA958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fld id="{50B34D2A-BB2D-4849-9BB0-7CC2B6FB1C9D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fld id="{E483A615-84F0-40B9-9692-DCFD6C8C39F0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5"/>
              <c:layout/>
              <c:tx>
                <c:rich>
                  <a:bodyPr/>
                  <a:lstStyle/>
                  <a:p>
                    <a:fld id="{79DA242A-75DD-4FF6-B08F-DBD4CA3544FA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6"/>
              <c:layout/>
              <c:tx>
                <c:rich>
                  <a:bodyPr/>
                  <a:lstStyle/>
                  <a:p>
                    <a:fld id="{E62E6749-1296-4D77-A303-54D51934A48A}" type="VALUE">
                      <a:rPr lang="en-US" sz="11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7"/>
              <c:layout/>
              <c:tx>
                <c:rich>
                  <a:bodyPr/>
                  <a:lstStyle/>
                  <a:p>
                    <a:fld id="{01FC7EA3-AB82-4840-9D80-4D54E8E47079}" type="VALUE">
                      <a:rPr lang="en-US" sz="12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8"/>
              <c:layout/>
              <c:tx>
                <c:rich>
                  <a:bodyPr/>
                  <a:lstStyle/>
                  <a:p>
                    <a:fld id="{06678B0E-4650-419E-B79D-1ABC6AD1EF76}" type="VALUE">
                      <a:rPr lang="en-US" sz="12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9"/>
              <c:layout/>
              <c:tx>
                <c:rich>
                  <a:bodyPr/>
                  <a:lstStyle/>
                  <a:p>
                    <a:fld id="{01F406A8-A879-4CD7-B8ED-77B36580017B}" type="VALUE">
                      <a:rPr lang="en-US" sz="1200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  <a:latin typeface="Liberation San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dog_bark</c:v>
                </c:pt>
                <c:pt idx="1">
                  <c:v>children</c:v>
                </c:pt>
                <c:pt idx="2">
                  <c:v>air_cond</c:v>
                </c:pt>
                <c:pt idx="3">
                  <c:v>street_mus</c:v>
                </c:pt>
                <c:pt idx="4">
                  <c:v>jackhammer</c:v>
                </c:pt>
                <c:pt idx="5">
                  <c:v>engine</c:v>
                </c:pt>
                <c:pt idx="6">
                  <c:v>drilling</c:v>
                </c:pt>
                <c:pt idx="7">
                  <c:v>siren</c:v>
                </c:pt>
                <c:pt idx="8">
                  <c:v>car_horn</c:v>
                </c:pt>
                <c:pt idx="9">
                  <c:v>gun_shot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1000</c:v>
                </c:pt>
                <c:pt idx="7">
                  <c:v>929</c:v>
                </c:pt>
                <c:pt idx="8">
                  <c:v>429</c:v>
                </c:pt>
                <c:pt idx="9">
                  <c:v>374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06173616"/>
        <c:axId val="306175296"/>
      </c:barChart>
      <c:catAx>
        <c:axId val="3061736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  <a:endParaRPr lang="ru-RU"/>
          </a:p>
        </c:txPr>
        <c:crossAx val="306175296"/>
        <c:crosses val="autoZero"/>
        <c:auto val="1"/>
        <c:lblAlgn val="ctr"/>
        <c:lblOffset val="100"/>
        <c:noMultiLvlLbl val="0"/>
      </c:catAx>
      <c:valAx>
        <c:axId val="306175296"/>
        <c:scaling>
          <c:orientation val="minMax"/>
          <c:max val="115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  <a:endParaRPr lang="ru-RU"/>
          </a:p>
        </c:txPr>
        <c:crossAx val="30617361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89958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86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133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46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6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334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523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07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22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2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7187" y="4216987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5"/>
          <p:cNvSpPr txBox="1"/>
          <p:nvPr/>
        </p:nvSpPr>
        <p:spPr>
          <a:xfrm>
            <a:off x="1141254" y="4120507"/>
            <a:ext cx="6835933" cy="5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2800" b="1">
                <a:solidFill>
                  <a:schemeClr val="bg1"/>
                </a:solidFill>
              </a:rPr>
              <a:t>Machine Learning. Professional</a:t>
            </a:r>
            <a:endParaRPr sz="280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7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37" y="2085727"/>
            <a:ext cx="1739025" cy="229551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399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smtClean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Юрий Вербенко</a:t>
            </a:r>
            <a:endParaRPr sz="2300" b="1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Roboto Medium"/>
                <a:ea typeface="Roboto Medium"/>
                <a:cs typeface="Roboto Medium"/>
                <a:sym typeface="Roboto Medium"/>
              </a:rPr>
              <a:t>Инженер. Системный администратор</a:t>
            </a:r>
            <a:endParaRPr sz="1300">
              <a:solidFill>
                <a:schemeClr val="accent4">
                  <a:lumMod val="20000"/>
                  <a:lumOff val="80000"/>
                </a:schemeClr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658656" y="245008"/>
            <a:ext cx="7706100" cy="5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SzPts val="1100"/>
            </a:pPr>
            <a:r>
              <a:rPr lang="ru-RU" sz="2800"/>
              <a:t>Цель проекта и постановка задачи</a:t>
            </a: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511706" y="1061090"/>
            <a:ext cx="4327493" cy="3710936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453431" y="1060141"/>
            <a:ext cx="3505450" cy="3711886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591398" y="1503037"/>
            <a:ext cx="355348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Разработать и сравнить различные модели машинного обучения и глубокого обучения для точной классификации аудио сигналов городской среды.</a:t>
            </a:r>
            <a:endParaRPr sz="1600">
              <a:solidFill>
                <a:srgbClr val="000000"/>
              </a:solidFill>
              <a:latin typeface="Liberation Sans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4760849" y="1503037"/>
            <a:ext cx="4183125" cy="294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Загрузить и изучить набор данных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30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   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UrbanSound8K (8732 </a:t>
            </a:r>
            <a:r>
              <a:rPr lang="ru-RU" sz="1300" err="1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аудиофрагмента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, 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30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    10 классов).</a:t>
            </a:r>
            <a:endParaRPr sz="1300">
              <a:solidFill>
                <a:srgbClr val="333333"/>
              </a:solidFill>
              <a:latin typeface="Liberation Sans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2"/>
            </a:pPr>
            <a:r>
              <a:rPr lang="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Провести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EDA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и обработку аудио данных (извлечение признаков, нормализация).</a:t>
            </a:r>
            <a:r>
              <a:rPr lang="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333333"/>
              </a:solidFill>
              <a:latin typeface="Liberation Sans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Обучить и сравнить классические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ML-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модели,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CNN, Transformer, </a:t>
            </a:r>
            <a:r>
              <a:rPr lang="en-US" sz="1300" err="1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BiLSTM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и их комбинации.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Оценить модели по метрикам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Accuracy, </a:t>
            </a:r>
            <a:endParaRPr lang="ru-RU" sz="1300" smtClean="0">
              <a:solidFill>
                <a:srgbClr val="333333"/>
              </a:solidFill>
              <a:latin typeface="Liberation Sans"/>
              <a:ea typeface="Roboto"/>
              <a:cs typeface="Roboto"/>
              <a:sym typeface="Roboto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30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   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F1 Macro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и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MCC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с использованием 10-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fold 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en-US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    </a:t>
            </a:r>
            <a:r>
              <a:rPr lang="ru-RU" sz="1300" err="1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кроссвалидации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.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 startAt="5"/>
            </a:pP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Выбрать лучшую модель и проанализировать </a:t>
            </a:r>
            <a:r>
              <a:rPr lang="ru-RU" sz="1300">
                <a:latin typeface="Liberation Sans"/>
                <a:ea typeface="Roboto"/>
                <a:cs typeface="Roboto"/>
                <a:sym typeface="Roboto"/>
              </a:rPr>
              <a:t> </a:t>
            </a:r>
            <a:endParaRPr lang="ru-RU" sz="1300" smtClean="0">
              <a:latin typeface="Liberation Sans"/>
              <a:ea typeface="Roboto"/>
              <a:cs typeface="Roboto"/>
              <a:sym typeface="Roboto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30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r>
              <a:rPr lang="ru-RU" sz="1300" smtClean="0">
                <a:solidFill>
                  <a:srgbClr val="333333"/>
                </a:solidFill>
                <a:latin typeface="Liberation Sans"/>
                <a:ea typeface="Roboto"/>
                <a:cs typeface="Roboto"/>
                <a:sym typeface="Roboto"/>
              </a:rPr>
              <a:t>     результаты</a:t>
            </a:r>
          </a:p>
        </p:txBody>
      </p:sp>
      <p:sp>
        <p:nvSpPr>
          <p:cNvPr id="443" name="Google Shape;443;p62"/>
          <p:cNvSpPr txBox="1"/>
          <p:nvPr/>
        </p:nvSpPr>
        <p:spPr>
          <a:xfrm>
            <a:off x="1273070" y="1040597"/>
            <a:ext cx="256498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800" b="1">
                <a:solidFill>
                  <a:srgbClr val="0070C0"/>
                </a:solidFill>
                <a:latin typeface="Liberation Sans"/>
              </a:rPr>
              <a:t>Цель проекта</a:t>
            </a:r>
            <a:endParaRPr sz="1800" b="1">
              <a:solidFill>
                <a:srgbClr val="0070C0"/>
              </a:solidFill>
              <a:latin typeface="Liberation Sans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53978" y="1060140"/>
            <a:ext cx="28720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Liberation Sans"/>
              </a:rPr>
              <a:t>       </a:t>
            </a:r>
            <a:r>
              <a:rPr lang="ru-RU" sz="1800" b="1" smtClean="0">
                <a:solidFill>
                  <a:srgbClr val="0070C0"/>
                </a:solidFill>
                <a:latin typeface="Liberation Sans"/>
              </a:rPr>
              <a:t>Постановка </a:t>
            </a:r>
            <a:r>
              <a:rPr lang="ru-RU" sz="1800" b="1">
                <a:solidFill>
                  <a:srgbClr val="0070C0"/>
                </a:solidFill>
                <a:latin typeface="Liberation Sans"/>
              </a:rPr>
              <a:t>задачи</a:t>
            </a:r>
          </a:p>
        </p:txBody>
      </p:sp>
      <p:sp>
        <p:nvSpPr>
          <p:cNvPr id="10" name="Google Shape;147;p35"/>
          <p:cNvSpPr txBox="1"/>
          <p:nvPr/>
        </p:nvSpPr>
        <p:spPr>
          <a:xfrm>
            <a:off x="790879" y="3362079"/>
            <a:ext cx="3199551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smtClean="0">
                <a:solidFill>
                  <a:srgbClr val="7030A0"/>
                </a:solidFill>
                <a:latin typeface="Liberation Sans"/>
                <a:ea typeface="Roboto"/>
                <a:cs typeface="Roboto"/>
                <a:sym typeface="Roboto"/>
              </a:rPr>
              <a:t>Подобрать наилучший подход по метрике </a:t>
            </a:r>
            <a:r>
              <a:rPr lang="en-US" sz="1800" i="1" smtClean="0">
                <a:solidFill>
                  <a:srgbClr val="7030A0"/>
                </a:solidFill>
                <a:latin typeface="Liberation Sans"/>
                <a:ea typeface="Roboto"/>
                <a:cs typeface="Roboto"/>
                <a:sym typeface="Roboto"/>
              </a:rPr>
              <a:t>MCC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1" smtClean="0">
                <a:solidFill>
                  <a:srgbClr val="7030A0"/>
                </a:solidFill>
                <a:latin typeface="Liberation Sans"/>
                <a:ea typeface="Roboto"/>
                <a:cs typeface="Roboto"/>
                <a:sym typeface="Roboto"/>
              </a:rPr>
              <a:t>И проанализировать результаты.</a:t>
            </a:r>
            <a:endParaRPr sz="1800" i="1">
              <a:solidFill>
                <a:srgbClr val="7030A0"/>
              </a:solidFill>
              <a:latin typeface="Liberation Sans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956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400" smtClean="0">
                <a:solidFill>
                  <a:schemeClr val="tx1"/>
                </a:solidFill>
              </a:rPr>
              <a:t/>
            </a:r>
            <a:br>
              <a:rPr lang="en-US" sz="1400" smtClean="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/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smtClean="0">
                <a:solidFill>
                  <a:schemeClr val="tx1"/>
                </a:solidFill>
              </a:rPr>
              <a:t/>
            </a:r>
            <a:br>
              <a:rPr lang="en-US" sz="1400" smtClean="0">
                <a:solidFill>
                  <a:schemeClr val="tx1"/>
                </a:solidFill>
              </a:rPr>
            </a:br>
            <a:r>
              <a:rPr lang="ru-RU" sz="1400" smtClean="0">
                <a:solidFill>
                  <a:schemeClr val="tx1"/>
                </a:solidFill>
              </a:rPr>
              <a:t/>
            </a:r>
            <a:br>
              <a:rPr lang="ru-RU" sz="1400" smtClean="0">
                <a:solidFill>
                  <a:schemeClr val="tx1"/>
                </a:solidFill>
              </a:rPr>
            </a:br>
            <a:r>
              <a:rPr lang="en-US" sz="1400" smtClean="0">
                <a:solidFill>
                  <a:schemeClr val="tx1"/>
                </a:solidFill>
              </a:rPr>
              <a:t>   </a:t>
            </a:r>
            <a:r>
              <a:rPr lang="ru-RU" sz="1400" smtClean="0">
                <a:solidFill>
                  <a:schemeClr val="bg1"/>
                </a:solidFill>
              </a:rPr>
              <a:t>Датасет </a:t>
            </a:r>
            <a:r>
              <a:rPr lang="ru-RU" sz="1400">
                <a:solidFill>
                  <a:schemeClr val="bg1"/>
                </a:solidFill>
              </a:rPr>
              <a:t>UrbanSound8K:</a:t>
            </a:r>
            <a:r>
              <a:rPr lang="ru-RU" sz="1400" smtClean="0">
                <a:solidFill>
                  <a:schemeClr val="bg1"/>
                </a:solidFill>
              </a:rPr>
              <a:t> </a:t>
            </a:r>
            <a:endParaRPr sz="1400">
              <a:solidFill>
                <a:schemeClr val="bg1"/>
              </a:solidFill>
            </a:endParaRPr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683256241"/>
              </p:ext>
            </p:extLst>
          </p:nvPr>
        </p:nvGraphicFramePr>
        <p:xfrm>
          <a:off x="3067050" y="609600"/>
          <a:ext cx="6896100" cy="6089754"/>
        </p:xfrm>
        <a:graphic>
          <a:graphicData uri="http://schemas.openxmlformats.org/drawingml/2006/table">
            <a:tbl>
              <a:tblPr>
                <a:noFill/>
                <a:tableStyleId>{5417A7BC-8981-49FC-8D4F-ABEBFE59864A}</a:tableStyleId>
              </a:tblPr>
              <a:tblGrid>
                <a:gridCol w="651897"/>
                <a:gridCol w="6244203"/>
              </a:tblGrid>
              <a:tr h="15647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smtClean="0">
                          <a:solidFill>
                            <a:srgbClr val="C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 = air_conditioner (</a:t>
                      </a:r>
                      <a:r>
                        <a:rPr lang="ru-RU" sz="1400" b="0" i="0" u="none" strike="noStrike" cap="none" spc="0" smtClean="0">
                          <a:solidFill>
                            <a:srgbClr val="C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кондиционер)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C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rgbClr val="FFC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 = </a:t>
                      </a:r>
                      <a:r>
                        <a:rPr lang="en-US" sz="1400" b="0" i="0" u="none" strike="noStrike" cap="none" spc="0" smtClean="0">
                          <a:solidFill>
                            <a:srgbClr val="FFC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car_horn (</a:t>
                      </a:r>
                      <a:r>
                        <a:rPr lang="ru-RU" sz="1400" b="0" i="0" u="none" strike="noStrike" cap="none" spc="0" smtClean="0">
                          <a:solidFill>
                            <a:srgbClr val="FFC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автомобильный гудок)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FFC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rgbClr val="92D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 = </a:t>
                      </a:r>
                      <a:r>
                        <a:rPr lang="en-US" sz="1400" b="0" i="0" u="none" strike="noStrike" cap="none" spc="0" smtClean="0">
                          <a:solidFill>
                            <a:srgbClr val="92D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children_playing (</a:t>
                      </a:r>
                      <a:r>
                        <a:rPr lang="ru-RU" sz="1400" b="0" i="0" u="none" strike="noStrike" cap="none" spc="0" smtClean="0">
                          <a:solidFill>
                            <a:srgbClr val="92D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играющие дети)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rgbClr val="00B0F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 = </a:t>
                      </a:r>
                      <a:r>
                        <a:rPr lang="en-US" sz="1400" b="0" i="0" u="none" strike="noStrike" cap="none" spc="0" smtClean="0">
                          <a:solidFill>
                            <a:srgbClr val="00B0F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dog_bark (</a:t>
                      </a:r>
                      <a:r>
                        <a:rPr lang="ru-RU" sz="1400" b="0" i="0" u="none" strike="noStrike" cap="none" spc="0" smtClean="0">
                          <a:solidFill>
                            <a:srgbClr val="00B0F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лай собаки)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2">
                              <a:lumMod val="25000"/>
                              <a:lumOff val="75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2">
                              <a:lumMod val="25000"/>
                              <a:lumOff val="75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drilling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2">
                              <a:lumMod val="25000"/>
                              <a:lumOff val="75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сверление/бурение)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0070C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engine_idling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работа двигателя на холостом ходу)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rgbClr val="7030A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5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5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gun_shot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5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выстрел)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chemeClr val="accent5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jackhammer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отбойный молоток)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8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siren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сирена)</a:t>
                      </a:r>
                    </a:p>
                    <a:p>
                      <a:endParaRPr lang="ru-RU" sz="1400" b="0" i="0" u="none" strike="noStrike" cap="none" spc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spc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 = </a:t>
                      </a:r>
                      <a:r>
                        <a:rPr lang="en-US" sz="1400" b="0" i="0" u="none" strike="noStrike" cap="none" spc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street_music (</a:t>
                      </a:r>
                      <a:r>
                        <a:rPr lang="ru-RU" sz="1400" b="0" i="0" u="none" strike="noStrike" cap="none" spc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уличная музыка)</a:t>
                      </a:r>
                      <a:endParaRPr lang="ru-RU" sz="1400" b="0" i="0" u="none" strike="noStrike" cap="none" spc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0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0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50" y="1652587"/>
            <a:ext cx="2522439" cy="2103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4361" y="233362"/>
            <a:ext cx="6681902" cy="3286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800" b="1" smtClean="0">
                <a:solidFill>
                  <a:schemeClr val="bg1"/>
                </a:solidFill>
                <a:latin typeface="Liberation Sans"/>
                <a:ea typeface="Roboto"/>
                <a:cs typeface="Roboto"/>
                <a:sym typeface="Roboto"/>
              </a:rPr>
              <a:t>1. </a:t>
            </a:r>
            <a:r>
              <a:rPr lang="ru-RU" sz="1800" b="1" smtClean="0">
                <a:solidFill>
                  <a:schemeClr val="bg1"/>
                </a:solidFill>
                <a:latin typeface="Liberation Sans"/>
                <a:ea typeface="Roboto"/>
                <a:cs typeface="Roboto"/>
                <a:sym typeface="Roboto"/>
              </a:rPr>
              <a:t>Загрузка </a:t>
            </a:r>
            <a:r>
              <a:rPr lang="ru-RU" sz="1800" b="1">
                <a:solidFill>
                  <a:schemeClr val="bg1"/>
                </a:solidFill>
                <a:latin typeface="Liberation Sans"/>
                <a:ea typeface="Roboto"/>
                <a:cs typeface="Roboto"/>
                <a:sym typeface="Roboto"/>
              </a:rPr>
              <a:t>и </a:t>
            </a:r>
            <a:r>
              <a:rPr lang="ru-RU" sz="1800" b="1" smtClean="0">
                <a:solidFill>
                  <a:schemeClr val="bg1"/>
                </a:solidFill>
                <a:latin typeface="Liberation Sans"/>
                <a:ea typeface="Roboto"/>
                <a:cs typeface="Roboto"/>
                <a:sym typeface="Roboto"/>
              </a:rPr>
              <a:t>изучение набора данных UrbanSound8K</a:t>
            </a:r>
            <a:endParaRPr lang="ru-RU" sz="1800" b="1">
              <a:solidFill>
                <a:schemeClr val="bg1"/>
              </a:solidFill>
              <a:latin typeface="Liberation Sans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533172" y="373380"/>
            <a:ext cx="8610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ru-RU" sz="1800" b="1" smtClean="0">
                <a:solidFill>
                  <a:schemeClr val="accent1">
                    <a:lumMod val="75000"/>
                  </a:schemeClr>
                </a:solidFill>
                <a:latin typeface="Liberation Sans"/>
                <a:ea typeface="Roboto"/>
                <a:cs typeface="Roboto"/>
                <a:sym typeface="Roboto"/>
              </a:rPr>
              <a:t>2. Проводим EDA </a:t>
            </a:r>
            <a:r>
              <a:rPr lang="ru-RU" sz="1800" b="1">
                <a:solidFill>
                  <a:schemeClr val="accent1">
                    <a:lumMod val="75000"/>
                  </a:schemeClr>
                </a:solidFill>
                <a:latin typeface="Liberation Sans"/>
                <a:ea typeface="Roboto"/>
                <a:cs typeface="Roboto"/>
                <a:sym typeface="Roboto"/>
              </a:rPr>
              <a:t>и обработку аудио данных (извлечение </a:t>
            </a:r>
            <a:r>
              <a:rPr lang="ru-RU" sz="1800" b="1" smtClean="0">
                <a:solidFill>
                  <a:schemeClr val="accent1">
                    <a:lumMod val="75000"/>
                  </a:schemeClr>
                </a:solidFill>
                <a:latin typeface="Liberation Sans"/>
                <a:ea typeface="Roboto"/>
                <a:cs typeface="Roboto"/>
                <a:sym typeface="Roboto"/>
              </a:rPr>
              <a:t>признаков).</a:t>
            </a:r>
            <a:r>
              <a:rPr lang="ru-RU" sz="1500" smtClean="0">
                <a:solidFill>
                  <a:schemeClr val="accent1">
                    <a:lumMod val="75000"/>
                  </a:schemeClr>
                </a:solidFill>
                <a:latin typeface="Liberation Sans"/>
                <a:ea typeface="Roboto"/>
                <a:cs typeface="Roboto"/>
                <a:sym typeface="Roboto"/>
              </a:rPr>
              <a:t> </a:t>
            </a:r>
            <a:endParaRPr lang="ru-RU" sz="1500">
              <a:solidFill>
                <a:schemeClr val="accent1">
                  <a:lumMod val="75000"/>
                </a:schemeClr>
              </a:solidFill>
              <a:latin typeface="Liberation Sans"/>
              <a:ea typeface="Roboto"/>
              <a:cs typeface="Roboto"/>
              <a:sym typeface="Roboto"/>
            </a:endParaRPr>
          </a:p>
          <a:p>
            <a:pPr algn="l"/>
            <a:r>
              <a:rPr sz="2100" b="1" smtClean="0">
                <a:solidFill>
                  <a:srgbClr val="0F172A"/>
                </a:solidFill>
                <a:latin typeface="Liberation Sans"/>
              </a:rPr>
              <a:t> </a:t>
            </a:r>
            <a:endParaRPr sz="2100" b="1">
              <a:solidFill>
                <a:srgbClr val="0F172A"/>
              </a:solidFill>
              <a:latin typeface="Liberatio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38213"/>
            <a:ext cx="3634740" cy="4095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Датасет не имеет пропусков и </a:t>
            </a: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дубликатов</a:t>
            </a:r>
          </a:p>
          <a:p>
            <a:pPr>
              <a:spcAft>
                <a:spcPts val="600"/>
              </a:spcAft>
            </a:pPr>
            <a:endParaRPr lang="en-US" sz="1275" b="1" smtClean="0">
              <a:solidFill>
                <a:srgbClr val="0F172A"/>
              </a:solidFill>
              <a:latin typeface="Liberation Sans"/>
            </a:endParaRP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0F172A"/>
                </a:solidFill>
                <a:latin typeface="Liberation Sans"/>
              </a:rPr>
              <a:t>Дисбаланс 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классов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-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7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классов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содержат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по</a:t>
            </a:r>
            <a:r>
              <a:rPr sz="1200">
                <a:solidFill>
                  <a:srgbClr val="334155"/>
                </a:solidFill>
                <a:latin typeface="Liberation Sans"/>
              </a:rPr>
              <a:t> 1 000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записей</a:t>
            </a:r>
            <a:r>
              <a:rPr sz="1200">
                <a:solidFill>
                  <a:srgbClr val="334155"/>
                </a:solidFill>
                <a:latin typeface="Liberation Sans"/>
              </a:rPr>
              <a:t>,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siren </a:t>
            </a:r>
            <a:r>
              <a:rPr sz="1200">
                <a:solidFill>
                  <a:srgbClr val="334155"/>
                </a:solidFill>
                <a:latin typeface="Liberation Sans"/>
              </a:rPr>
              <a:t>— 929,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car_horn </a:t>
            </a:r>
            <a:r>
              <a:rPr sz="1200">
                <a:solidFill>
                  <a:srgbClr val="334155"/>
                </a:solidFill>
                <a:latin typeface="Liberation Sans"/>
              </a:rPr>
              <a:t>— 429,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gun_shot </a:t>
            </a:r>
            <a:r>
              <a:rPr sz="1200">
                <a:solidFill>
                  <a:srgbClr val="334155"/>
                </a:solidFill>
                <a:latin typeface="Liberation Sans"/>
              </a:rPr>
              <a:t>— 374.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err="1">
                <a:solidFill>
                  <a:srgbClr val="0F172A"/>
                </a:solidFill>
                <a:latin typeface="Liberation Sans"/>
              </a:rPr>
              <a:t>Запрет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перемешивания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</a:t>
            </a:r>
            <a:r>
              <a:rPr lang="ru-RU" sz="1200">
                <a:latin typeface="Liberation Sans"/>
              </a:rPr>
              <a:t>Создатели UrbanSound8K специально </a:t>
            </a:r>
            <a:endParaRPr lang="ru-RU" sz="1200" smtClean="0"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latin typeface="Liberation Sans"/>
              </a:rPr>
              <a:t> </a:t>
            </a:r>
            <a:r>
              <a:rPr lang="ru-RU" sz="1200" smtClean="0">
                <a:latin typeface="Liberation Sans"/>
              </a:rPr>
              <a:t>  сгруппировали </a:t>
            </a:r>
            <a:r>
              <a:rPr lang="ru-RU" sz="1200">
                <a:latin typeface="Liberation Sans"/>
              </a:rPr>
              <a:t>все клипы, происходящие от </a:t>
            </a:r>
            <a:r>
              <a:rPr lang="ru-RU" sz="1200" smtClean="0">
                <a:latin typeface="Liberation Sans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ru-RU" sz="1200">
                <a:latin typeface="Liberation Sans"/>
              </a:rPr>
              <a:t> </a:t>
            </a:r>
            <a:r>
              <a:rPr lang="ru-RU" sz="1200" smtClean="0">
                <a:latin typeface="Liberation Sans"/>
              </a:rPr>
              <a:t>  одного </a:t>
            </a:r>
            <a:r>
              <a:rPr lang="ru-RU" sz="1200">
                <a:latin typeface="Liberation Sans"/>
              </a:rPr>
              <a:t>источника, строго внутри одного фолда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Слайсы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одной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записи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лежат</a:t>
            </a:r>
            <a:r>
              <a:rPr sz="1200">
                <a:solidFill>
                  <a:srgbClr val="334155"/>
                </a:solidFill>
                <a:latin typeface="Liberation Sans"/>
              </a:rPr>
              <a:t> в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одном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фолде</a:t>
            </a:r>
            <a:r>
              <a:rPr sz="1200">
                <a:solidFill>
                  <a:srgbClr val="334155"/>
                </a:solidFill>
                <a:latin typeface="Liberation Sans"/>
              </a:rPr>
              <a:t> —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оценка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ведётся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err="1">
                <a:solidFill>
                  <a:srgbClr val="334155"/>
                </a:solidFill>
                <a:latin typeface="Liberation Sans"/>
              </a:rPr>
              <a:t>строго</a:t>
            </a:r>
            <a:r>
              <a:rPr sz="120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по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200">
                <a:solidFill>
                  <a:srgbClr val="334155"/>
                </a:solidFill>
                <a:latin typeface="Liberation Sans"/>
              </a:rPr>
              <a:t>10-fold CV.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605142"/>
              </p:ext>
            </p:extLst>
          </p:nvPr>
        </p:nvGraphicFramePr>
        <p:xfrm>
          <a:off x="4320540" y="1508760"/>
          <a:ext cx="4251960" cy="3051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787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pic>
        <p:nvPicPr>
          <p:cNvPr id="3" name="Picture 2" descr="panel_s3_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28" y="0"/>
            <a:ext cx="4571543" cy="51435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48640" y="342900"/>
            <a:ext cx="3737610" cy="4619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050" b="1">
                <a:solidFill>
                  <a:srgbClr val="2563EB"/>
                </a:solidFill>
                <a:latin typeface="Liberation Sans"/>
              </a:rPr>
              <a:t> </a:t>
            </a:r>
            <a:r>
              <a:rPr lang="ru-RU" sz="1050" b="1" smtClean="0">
                <a:solidFill>
                  <a:srgbClr val="2563EB"/>
                </a:solidFill>
                <a:latin typeface="Liberation Sans"/>
              </a:rPr>
              <a:t>            </a:t>
            </a:r>
            <a:r>
              <a:rPr sz="1200" b="1" smtClean="0">
                <a:solidFill>
                  <a:srgbClr val="2563EB"/>
                </a:solidFill>
                <a:latin typeface="Liberation Sans"/>
              </a:rPr>
              <a:t>ВИЗУАЛИЗАЦИЯ </a:t>
            </a:r>
            <a:r>
              <a:rPr sz="1200" b="1">
                <a:solidFill>
                  <a:srgbClr val="2563EB"/>
                </a:solidFill>
                <a:latin typeface="Liberation Sans"/>
              </a:rPr>
              <a:t>АУДИО (LIBROSA)</a:t>
            </a:r>
          </a:p>
          <a:p>
            <a:pPr algn="ctr"/>
            <a:r>
              <a:rPr b="1" err="1">
                <a:solidFill>
                  <a:srgbClr val="0F172A"/>
                </a:solidFill>
                <a:latin typeface="Liberation Sans"/>
              </a:rPr>
              <a:t>От</a:t>
            </a:r>
            <a:r>
              <a:rPr b="1">
                <a:solidFill>
                  <a:srgbClr val="0F172A"/>
                </a:solidFill>
                <a:latin typeface="Liberation Sans"/>
              </a:rPr>
              <a:t> </a:t>
            </a:r>
            <a:r>
              <a:rPr b="1" err="1">
                <a:solidFill>
                  <a:srgbClr val="0F172A"/>
                </a:solidFill>
                <a:latin typeface="Liberation Sans"/>
              </a:rPr>
              <a:t>волны</a:t>
            </a:r>
            <a:r>
              <a:rPr b="1">
                <a:solidFill>
                  <a:srgbClr val="0F172A"/>
                </a:solidFill>
                <a:latin typeface="Liberation Sans"/>
              </a:rPr>
              <a:t> и FFT к Mel-</a:t>
            </a:r>
            <a:r>
              <a:rPr b="1" err="1">
                <a:solidFill>
                  <a:srgbClr val="0F172A"/>
                </a:solidFill>
                <a:latin typeface="Liberation Sans"/>
              </a:rPr>
              <a:t>спектрограмме</a:t>
            </a:r>
            <a:endParaRPr b="1">
              <a:solidFill>
                <a:srgbClr val="0F172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13" y="942975"/>
            <a:ext cx="4434114" cy="32423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err="1">
                <a:solidFill>
                  <a:srgbClr val="0F172A"/>
                </a:solidFill>
                <a:latin typeface="Liberation Sans"/>
              </a:rPr>
              <a:t>Образец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 dog_bark: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Файл 100032-3-0-0.wav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00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(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длительность 0.318 с, </a:t>
            </a:r>
            <a:r>
              <a:rPr lang="ru-RU" sz="1200" err="1">
                <a:solidFill>
                  <a:srgbClr val="334155"/>
                </a:solidFill>
                <a:latin typeface="Liberation Sans"/>
              </a:rPr>
              <a:t>sr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 = 44 100 Гц, 14 004 отсчёта).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0F172A"/>
                </a:solidFill>
                <a:latin typeface="Liberation Sans"/>
              </a:rPr>
              <a:t>Waveform 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(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амплитуда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):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Показывает динамику громкости во времени, но не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 раскрывает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частотный состав.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err="1" smtClean="0">
                <a:solidFill>
                  <a:srgbClr val="0F172A"/>
                </a:solidFill>
                <a:latin typeface="Liberation Sans"/>
              </a:rPr>
              <a:t>Спектр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БПФ (FFT):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Выявляет доминирующие частоты (500–2500 Гц), но </a:t>
            </a:r>
            <a:endParaRPr lang="ru-RU" sz="1200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  теряет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временную развёртку.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0F172A"/>
                </a:solidFill>
                <a:latin typeface="Liberation Sans"/>
              </a:rPr>
              <a:t>Mel-</a:t>
            </a:r>
            <a:r>
              <a:rPr sz="1275" b="1" err="1" smtClean="0">
                <a:solidFill>
                  <a:srgbClr val="0F172A"/>
                </a:solidFill>
                <a:latin typeface="Liberation Sans"/>
              </a:rPr>
              <a:t>спектрограмма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: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</a:t>
            </a:r>
            <a:r>
              <a:rPr lang="ru-RU" sz="1125">
                <a:solidFill>
                  <a:srgbClr val="334155"/>
                </a:solidFill>
                <a:latin typeface="Liberation Sans"/>
              </a:rPr>
              <a:t>Матрица частота × время (128 полос </a:t>
            </a:r>
            <a:r>
              <a:rPr lang="ru-RU" sz="1125" err="1">
                <a:solidFill>
                  <a:srgbClr val="334155"/>
                </a:solidFill>
                <a:latin typeface="Liberation Sans"/>
              </a:rPr>
              <a:t>Mel</a:t>
            </a:r>
            <a:r>
              <a:rPr lang="ru-RU" sz="1125">
                <a:solidFill>
                  <a:srgbClr val="334155"/>
                </a:solidFill>
                <a:latin typeface="Liberation Sans"/>
              </a:rPr>
              <a:t> в дБ) с учётом </a:t>
            </a:r>
            <a:endParaRPr lang="ru-RU" sz="1125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 восприятия </a:t>
            </a:r>
            <a:r>
              <a:rPr lang="ru-RU" sz="1125">
                <a:solidFill>
                  <a:srgbClr val="334155"/>
                </a:solidFill>
                <a:latin typeface="Liberation Sans"/>
              </a:rPr>
              <a:t>человеческого уха.</a:t>
            </a:r>
          </a:p>
          <a:p>
            <a:pPr>
              <a:spcAft>
                <a:spcPts val="600"/>
              </a:spcAft>
            </a:pPr>
            <a:endParaRPr sz="1125">
              <a:solidFill>
                <a:srgbClr val="334155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418710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316" y="42863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548640" y="342900"/>
            <a:ext cx="8023860" cy="8715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Liberation Sans"/>
              </a:rPr>
              <a:t>ИНЖЕНЕРИЯ ПРИЗНАКОВ ДЛЯ КЛАССИЧЕСКОГО ML</a:t>
            </a:r>
          </a:p>
          <a:p>
            <a:pPr algn="ctr"/>
            <a:r>
              <a:rPr sz="2100" b="1">
                <a:solidFill>
                  <a:srgbClr val="0F172A"/>
                </a:solidFill>
                <a:latin typeface="Liberation Sans"/>
              </a:rPr>
              <a:t>Извлечение 60 признаков из 7 спектральных </a:t>
            </a:r>
            <a:r>
              <a:rPr sz="2100" b="1" smtClean="0">
                <a:solidFill>
                  <a:srgbClr val="0F172A"/>
                </a:solidFill>
                <a:latin typeface="Liberation Sans"/>
              </a:rPr>
              <a:t>групп</a:t>
            </a:r>
            <a:endParaRPr lang="ru-RU" sz="2100" b="1" smtClean="0">
              <a:solidFill>
                <a:srgbClr val="0F172A"/>
              </a:solidFill>
              <a:latin typeface="Liberation Sans"/>
            </a:endParaRPr>
          </a:p>
          <a:p>
            <a:pPr algn="ctr"/>
            <a:r>
              <a:rPr lang="en-US" sz="2100" b="1" smtClean="0">
                <a:solidFill>
                  <a:srgbClr val="0F172A"/>
                </a:solidFill>
                <a:latin typeface="Liberation Sans"/>
              </a:rPr>
              <a:t>     c</a:t>
            </a:r>
            <a:r>
              <a:rPr lang="ru-RU" sz="2100" b="1" smtClean="0">
                <a:solidFill>
                  <a:srgbClr val="0F172A"/>
                </a:solidFill>
                <a:latin typeface="Liberation Sans"/>
              </a:rPr>
              <a:t> помощью библиотеки </a:t>
            </a:r>
            <a:r>
              <a:rPr lang="en-US" sz="2100" b="1" smtClean="0">
                <a:solidFill>
                  <a:srgbClr val="0F172A"/>
                </a:solidFill>
                <a:latin typeface="Liberation Sans"/>
              </a:rPr>
              <a:t>“Librosa”</a:t>
            </a:r>
            <a:endParaRPr lang="ru-RU" sz="2100" b="1">
              <a:solidFill>
                <a:srgbClr val="0F172A"/>
              </a:solidFill>
              <a:latin typeface="Liberation Sans"/>
            </a:endParaRPr>
          </a:p>
          <a:p>
            <a:pPr algn="l"/>
            <a:endParaRPr sz="2100" b="1">
              <a:solidFill>
                <a:srgbClr val="0F172A"/>
              </a:solidFill>
              <a:latin typeface="Liberation Sa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468880" cy="29489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720090" y="1680210"/>
            <a:ext cx="2125980" cy="2606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1050"/>
              </a:spcAft>
            </a:pPr>
            <a:r>
              <a:rPr sz="1650" b="1">
                <a:solidFill>
                  <a:srgbClr val="2563EB"/>
                </a:solidFill>
                <a:latin typeface="Liberation Sans"/>
              </a:rPr>
              <a:t>1. Тембр и гармоники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MFCC (20 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коэфф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.):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Мел-кепстральные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коэффициенты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описывают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тембр</a:t>
            </a:r>
            <a:r>
              <a:rPr sz="1125">
                <a:solidFill>
                  <a:srgbClr val="334155"/>
                </a:solidFill>
                <a:latin typeface="Liberation Sans"/>
              </a:rPr>
              <a:t> и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огибающую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спектра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Chroma (12 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нот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):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Распределение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акустической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энергии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по</a:t>
            </a:r>
            <a:r>
              <a:rPr sz="1125">
                <a:solidFill>
                  <a:srgbClr val="334155"/>
                </a:solidFill>
                <a:latin typeface="Liberation Sans"/>
              </a:rPr>
              <a:t> 12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полутонам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октавы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6130" y="1508760"/>
            <a:ext cx="2468880" cy="29489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3497580" y="1680210"/>
            <a:ext cx="2125980" cy="2606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1050"/>
              </a:spcAft>
            </a:pPr>
            <a:r>
              <a:rPr sz="1650" b="1">
                <a:solidFill>
                  <a:srgbClr val="2563EB"/>
                </a:solidFill>
                <a:latin typeface="Liberation Sans"/>
              </a:rPr>
              <a:t>2. Форма спектра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Spectral Centroid: </a:t>
            </a:r>
            <a:r>
              <a:rPr sz="1125">
                <a:solidFill>
                  <a:srgbClr val="334155"/>
                </a:solidFill>
                <a:latin typeface="Liberation Sans"/>
              </a:rPr>
              <a:t>«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Центр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тяжести</a:t>
            </a:r>
            <a:r>
              <a:rPr sz="1125">
                <a:solidFill>
                  <a:srgbClr val="334155"/>
                </a:solidFill>
                <a:latin typeface="Liberation Sans"/>
              </a:rPr>
              <a:t>» спектра,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отражающий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яркость</a:t>
            </a:r>
            <a:r>
              <a:rPr sz="1125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err="1">
                <a:solidFill>
                  <a:srgbClr val="334155"/>
                </a:solidFill>
                <a:latin typeface="Liberation Sans"/>
              </a:rPr>
              <a:t>звучания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lang="en-US" sz="1275" b="1">
                <a:solidFill>
                  <a:srgbClr val="0F172A"/>
                </a:solidFill>
                <a:latin typeface="Liberation Sans"/>
              </a:rPr>
              <a:t>Spectral 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Bandwidth</a:t>
            </a:r>
            <a:r>
              <a:rPr lang="ru-RU" sz="1275" b="1">
                <a:solidFill>
                  <a:srgbClr val="0F172A"/>
                </a:solidFill>
                <a:latin typeface="Liberation Sans"/>
              </a:rPr>
              <a:t>: </a:t>
            </a:r>
            <a:r>
              <a:rPr lang="ru-RU" sz="1200"/>
              <a:t>Ширина распределения частот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en-US" sz="1200" b="1">
                <a:latin typeface="Liberation Sans"/>
              </a:rPr>
              <a:t>Spectral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sz="1275" b="1" err="1">
                <a:solidFill>
                  <a:srgbClr val="0F172A"/>
                </a:solidFill>
                <a:latin typeface="Liberation Sans"/>
              </a:rPr>
              <a:t>Rolloff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: </a:t>
            </a:r>
            <a:r>
              <a:rPr lang="ru-RU" sz="1200"/>
              <a:t>Частота, ниже которой находится </a:t>
            </a:r>
            <a:r>
              <a:rPr lang="ru-RU" sz="1200" err="1"/>
              <a:t>бОльшая</a:t>
            </a:r>
            <a:r>
              <a:rPr lang="ru-RU" sz="1200"/>
              <a:t> часть энергии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3620" y="1508760"/>
            <a:ext cx="2468880" cy="29489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TextBox 9"/>
          <p:cNvSpPr txBox="1"/>
          <p:nvPr/>
        </p:nvSpPr>
        <p:spPr>
          <a:xfrm>
            <a:off x="6275070" y="1680210"/>
            <a:ext cx="2125980" cy="2606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1050"/>
              </a:spcAft>
            </a:pPr>
            <a:r>
              <a:rPr sz="1650" b="1">
                <a:solidFill>
                  <a:srgbClr val="2563EB"/>
                </a:solidFill>
                <a:latin typeface="Liberation Sans"/>
              </a:rPr>
              <a:t>3. Динамика </a:t>
            </a:r>
            <a:endParaRPr sz="1650" b="1" smtClean="0">
              <a:solidFill>
                <a:srgbClr val="2563EB"/>
              </a:solidFill>
              <a:latin typeface="Liberation Sans"/>
            </a:endParaRP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lang="en-US" sz="1200" b="1" smtClean="0">
                <a:latin typeface="Liberation Sans"/>
              </a:rPr>
              <a:t>Zero Crossing Rate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 :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Частота смены знака сигнала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900"/>
              </a:spcAft>
              <a:buFont typeface="Liberation Sans"/>
              <a:buChar char="•"/>
            </a:pPr>
            <a:r>
              <a:rPr lang="en-US" sz="1200" b="1" smtClean="0">
                <a:solidFill>
                  <a:srgbClr val="0F172A"/>
                </a:solidFill>
                <a:latin typeface="Liberation Sans"/>
              </a:rPr>
              <a:t>RMS </a:t>
            </a:r>
            <a:r>
              <a:rPr lang="en-US" sz="1200" b="1">
                <a:solidFill>
                  <a:srgbClr val="0F172A"/>
                </a:solidFill>
                <a:latin typeface="Liberation Sans"/>
              </a:rPr>
              <a:t>Energy</a:t>
            </a:r>
            <a:r>
              <a:rPr lang="ru-RU" sz="1200" b="1">
                <a:solidFill>
                  <a:srgbClr val="0F172A"/>
                </a:solidFill>
                <a:latin typeface="Liberation Sans"/>
              </a:rPr>
              <a:t>: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средняя мощность звука.</a:t>
            </a:r>
            <a:r>
              <a:rPr lang="ru-RU" sz="1200" b="1">
                <a:solidFill>
                  <a:srgbClr val="0F172A"/>
                </a:solidFill>
                <a:latin typeface="Liberation Sans"/>
              </a:rPr>
              <a:t> </a:t>
            </a:r>
            <a:endParaRPr sz="1125">
              <a:solidFill>
                <a:srgbClr val="334155"/>
              </a:solidFill>
              <a:latin typeface="Liberatio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502" y="4576288"/>
            <a:ext cx="8023860" cy="343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ru-RU" b="1" smtClean="0">
                <a:solidFill>
                  <a:srgbClr val="2563EB"/>
                </a:solidFill>
                <a:latin typeface="Liberation Sans"/>
              </a:rPr>
              <a:t>Формируем, нормализуем и сохраняем данные </a:t>
            </a:r>
            <a:r>
              <a:rPr lang="en-US" b="1" smtClean="0">
                <a:solidFill>
                  <a:srgbClr val="2563EB"/>
                </a:solidFill>
                <a:latin typeface="Liberation Sans"/>
              </a:rPr>
              <a:t>X </a:t>
            </a:r>
            <a:r>
              <a:rPr lang="ru-RU" b="1" smtClean="0">
                <a:solidFill>
                  <a:srgbClr val="2563EB"/>
                </a:solidFill>
                <a:latin typeface="Liberation Sans"/>
              </a:rPr>
              <a:t>и </a:t>
            </a:r>
            <a:r>
              <a:rPr lang="en-US" b="1" smtClean="0">
                <a:solidFill>
                  <a:srgbClr val="2563EB"/>
                </a:solidFill>
                <a:latin typeface="Liberation Sans"/>
              </a:rPr>
              <a:t>y </a:t>
            </a:r>
            <a:r>
              <a:rPr lang="ru-RU" b="1" smtClean="0">
                <a:solidFill>
                  <a:srgbClr val="2563EB"/>
                </a:solidFill>
                <a:latin typeface="Liberation Sans"/>
              </a:rPr>
              <a:t>для дальнейших вычислений.</a:t>
            </a:r>
            <a:endParaRPr lang="ru-RU" b="1">
              <a:solidFill>
                <a:srgbClr val="0F172A"/>
              </a:solidFill>
              <a:latin typeface="Liberation Sans"/>
            </a:endParaRPr>
          </a:p>
          <a:p>
            <a:pPr algn="l"/>
            <a:endParaRPr sz="2100" b="1">
              <a:solidFill>
                <a:srgbClr val="0F172A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547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/>
              <a:t>Classification Report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104" y="669132"/>
            <a:ext cx="3961448" cy="319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b="1" smtClean="0">
                <a:solidFill>
                  <a:srgbClr val="2563EB"/>
                </a:solidFill>
                <a:latin typeface="Liberation Sans"/>
              </a:rPr>
              <a:t>3.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КЛАССИЧЕСКИЕ </a:t>
            </a:r>
            <a:r>
              <a:rPr b="1">
                <a:solidFill>
                  <a:srgbClr val="2563EB"/>
                </a:solidFill>
                <a:latin typeface="Liberation Sans"/>
              </a:rPr>
              <a:t>МОДЕЛИ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ML</a:t>
            </a:r>
            <a:r>
              <a:rPr lang="ru-RU" b="1" smtClean="0">
                <a:solidFill>
                  <a:srgbClr val="2563EB"/>
                </a:solidFill>
                <a:latin typeface="Liberation Sans"/>
              </a:rPr>
              <a:t> из </a:t>
            </a:r>
            <a:r>
              <a:rPr lang="en-US" b="1" err="1" smtClean="0">
                <a:solidFill>
                  <a:srgbClr val="2563EB"/>
                </a:solidFill>
                <a:latin typeface="Liberation Sans"/>
              </a:rPr>
              <a:t>Sklearn</a:t>
            </a:r>
            <a:endParaRPr b="1">
              <a:solidFill>
                <a:srgbClr val="2563EB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7690" y="975359"/>
            <a:ext cx="3737610" cy="36061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125" smtClean="0">
                <a:solidFill>
                  <a:srgbClr val="334155"/>
                </a:solidFill>
                <a:latin typeface="Liberation Sans"/>
              </a:rPr>
              <a:t>   </a:t>
            </a:r>
            <a:endParaRPr sz="1125">
              <a:solidFill>
                <a:srgbClr val="334155"/>
              </a:solidFill>
              <a:latin typeface="Liberation Sans"/>
            </a:endParaRP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>
                <a:solidFill>
                  <a:srgbClr val="0070C0"/>
                </a:solidFill>
                <a:latin typeface="Liberation Sans"/>
              </a:rPr>
              <a:t>Logistic Regression</a:t>
            </a:r>
            <a:r>
              <a:rPr sz="1275" b="1" smtClean="0">
                <a:solidFill>
                  <a:srgbClr val="0070C0"/>
                </a:solidFill>
                <a:latin typeface="Liberation Sans"/>
              </a:rPr>
              <a:t>:</a:t>
            </a:r>
            <a:endParaRPr lang="en-US" sz="1275" b="1" smtClean="0">
              <a:solidFill>
                <a:srgbClr val="0070C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75" b="1">
                <a:solidFill>
                  <a:srgbClr val="7030A0"/>
                </a:solidFill>
                <a:latin typeface="Liberation Sans"/>
              </a:rPr>
              <a:t> </a:t>
            </a:r>
            <a:r>
              <a:rPr lang="en-US" sz="1275" b="1" smtClean="0">
                <a:solidFill>
                  <a:srgbClr val="7030A0"/>
                </a:solidFill>
                <a:latin typeface="Liberation Sans"/>
              </a:rPr>
              <a:t>  </a:t>
            </a:r>
            <a:r>
              <a:rPr lang="en-US" sz="1100" b="1" smtClean="0">
                <a:solidFill>
                  <a:schemeClr val="tx1"/>
                </a:solidFill>
                <a:latin typeface="Liberation Sans"/>
              </a:rPr>
              <a:t>-</a:t>
            </a:r>
            <a:r>
              <a:rPr sz="1275" b="1" smtClean="0">
                <a:solidFill>
                  <a:srgbClr val="7030A0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Accuracy = 0.6246 ± 0.0507,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0.6351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200" b="1" smtClean="0">
                <a:latin typeface="Liberation Sans"/>
              </a:rPr>
              <a:t>0.0535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0.5809 ± 0.0567.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>
                <a:solidFill>
                  <a:srgbClr val="0070C0"/>
                </a:solidFill>
                <a:latin typeface="Liberation Sans"/>
              </a:rPr>
              <a:t>SVM (RBF, C=10): </a:t>
            </a:r>
            <a:endParaRPr lang="en-US" sz="1275" b="1" smtClean="0">
              <a:solidFill>
                <a:srgbClr val="0070C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75" b="1" smtClean="0">
                <a:solidFill>
                  <a:srgbClr val="00B0F0"/>
                </a:solidFill>
                <a:latin typeface="Liberation Sans"/>
              </a:rPr>
              <a:t>   </a:t>
            </a:r>
            <a:r>
              <a:rPr lang="en-US" sz="1275" b="1" smtClean="0">
                <a:solidFill>
                  <a:schemeClr val="tx1"/>
                </a:solidFill>
                <a:latin typeface="Liberation Sans"/>
              </a:rPr>
              <a:t>-</a:t>
            </a:r>
            <a:r>
              <a:rPr lang="en-US" sz="1275" b="1" smtClean="0">
                <a:solidFill>
                  <a:srgbClr val="00B0F0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0.6586 ± 0.0587,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0.6667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00" b="1">
                <a:solidFill>
                  <a:srgbClr val="334155"/>
                </a:solidFill>
                <a:latin typeface="Liberation Sans"/>
              </a:rPr>
              <a:t>± </a:t>
            </a:r>
            <a:r>
              <a:rPr lang="en-US" sz="1100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00" b="1" smtClean="0">
                <a:latin typeface="Liberation Sans"/>
              </a:rPr>
              <a:t>0.0625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-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0.6202 ± 0.0648.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600" b="1">
                <a:solidFill>
                  <a:srgbClr val="0070C0"/>
                </a:solidFill>
                <a:latin typeface="Liberation Sans"/>
              </a:rPr>
              <a:t>Random Forest </a:t>
            </a:r>
            <a:r>
              <a:rPr sz="1600" b="1" smtClean="0">
                <a:solidFill>
                  <a:srgbClr val="0070C0"/>
                </a:solidFill>
                <a:latin typeface="Liberation Sans"/>
              </a:rPr>
              <a:t>: </a:t>
            </a:r>
            <a:endParaRPr lang="en-US" sz="1600">
              <a:solidFill>
                <a:srgbClr val="0070C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600" smtClean="0">
                <a:solidFill>
                  <a:srgbClr val="334155"/>
                </a:solidFill>
                <a:latin typeface="Liberation Sans"/>
              </a:rPr>
              <a:t>  </a:t>
            </a:r>
            <a:r>
              <a:rPr lang="en-US" sz="1600" b="1" smtClean="0">
                <a:solidFill>
                  <a:srgbClr val="334155"/>
                </a:solidFill>
                <a:latin typeface="Liberation Sans"/>
              </a:rPr>
              <a:t>- 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600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0.6613</a:t>
            </a:r>
            <a:r>
              <a:rPr lang="ru-RU" sz="1600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600" b="1" smtClean="0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600" b="1">
                <a:latin typeface="Liberation Sans"/>
              </a:rPr>
              <a:t>0.0212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600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600" b="1" smtClean="0">
                <a:solidFill>
                  <a:srgbClr val="334155"/>
                </a:solidFill>
                <a:latin typeface="Liberation Sans"/>
              </a:rPr>
              <a:t> - 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en-US" sz="1600" b="1" smtClean="0">
                <a:solidFill>
                  <a:srgbClr val="334155"/>
                </a:solidFill>
                <a:latin typeface="Liberation Sans"/>
              </a:rPr>
              <a:t> Score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600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0.6691</a:t>
            </a:r>
            <a:r>
              <a:rPr lang="ru-RU" sz="1600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600" b="1" smtClean="0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600" b="1">
                <a:latin typeface="Liberation Sans"/>
              </a:rPr>
              <a:t>0.0228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600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600" b="1" smtClean="0">
                <a:solidFill>
                  <a:srgbClr val="334155"/>
                </a:solidFill>
                <a:latin typeface="Liberation Sans"/>
              </a:rPr>
              <a:t> - </a:t>
            </a:r>
            <a:r>
              <a:rPr sz="1600" b="1" smtClean="0">
                <a:solidFill>
                  <a:srgbClr val="334155"/>
                </a:solidFill>
                <a:latin typeface="Liberation Sans"/>
              </a:rPr>
              <a:t>MCC </a:t>
            </a:r>
            <a:r>
              <a:rPr sz="1600" b="1">
                <a:solidFill>
                  <a:srgbClr val="334155"/>
                </a:solidFill>
                <a:latin typeface="Liberation Sans"/>
              </a:rPr>
              <a:t>= 0.6228 ± 0.0242</a:t>
            </a:r>
            <a:r>
              <a:rPr sz="1600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287" y="631030"/>
            <a:ext cx="3961448" cy="319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ru-RU" b="1" smtClean="0">
                <a:solidFill>
                  <a:srgbClr val="0070C0"/>
                </a:solidFill>
                <a:latin typeface="Liberation Sans"/>
              </a:rPr>
              <a:t>Выбираем метрику </a:t>
            </a:r>
            <a:r>
              <a:rPr lang="en-US" b="1" smtClean="0">
                <a:solidFill>
                  <a:srgbClr val="0070C0"/>
                </a:solidFill>
                <a:latin typeface="Liberation Sans"/>
              </a:rPr>
              <a:t>MCC </a:t>
            </a:r>
            <a:r>
              <a:rPr lang="ru-RU" b="1" smtClean="0">
                <a:solidFill>
                  <a:srgbClr val="0070C0"/>
                </a:solidFill>
                <a:latin typeface="Liberation Sans"/>
              </a:rPr>
              <a:t>как основную</a:t>
            </a:r>
            <a:endParaRPr lang="en-US" b="1">
              <a:solidFill>
                <a:srgbClr val="0070C0"/>
              </a:solidFill>
              <a:latin typeface="Liberation San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1886" y="1057274"/>
            <a:ext cx="4386147" cy="3571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Google Shape;30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7770" y="1125343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0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614" y="2167522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6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02" y="322107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1271586"/>
            <a:ext cx="37433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2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548639" y="247648"/>
            <a:ext cx="6433185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600" b="1">
                <a:solidFill>
                  <a:srgbClr val="2563EB"/>
                </a:solidFill>
                <a:latin typeface="Liberation Sans"/>
              </a:rPr>
              <a:t>4</a:t>
            </a:r>
            <a:r>
              <a:rPr sz="1600" b="1" smtClean="0">
                <a:solidFill>
                  <a:srgbClr val="2563EB"/>
                </a:solidFill>
                <a:latin typeface="Liberation Sans"/>
              </a:rPr>
              <a:t>. </a:t>
            </a:r>
            <a:r>
              <a:rPr sz="1600" b="1">
                <a:solidFill>
                  <a:srgbClr val="2563EB"/>
                </a:solidFill>
                <a:latin typeface="Liberation Sans"/>
              </a:rPr>
              <a:t>БАЗОВАЯ СЕТЬ CNN НА MEL-СПЕКТРОГРАММАХ</a:t>
            </a:r>
          </a:p>
          <a:p>
            <a:pPr algn="l"/>
            <a:r>
              <a:rPr sz="1875" b="1">
                <a:solidFill>
                  <a:srgbClr val="0F172A"/>
                </a:solidFill>
                <a:latin typeface="Liberation Sans"/>
              </a:rPr>
              <a:t>Одноканальная сеть </a:t>
            </a:r>
            <a:r>
              <a:rPr sz="1875" b="1" smtClean="0">
                <a:solidFill>
                  <a:srgbClr val="0F172A"/>
                </a:solidFill>
                <a:latin typeface="Liberation Sans"/>
              </a:rPr>
              <a:t>AudioCNN</a:t>
            </a:r>
            <a:endParaRPr sz="1875" b="1">
              <a:solidFill>
                <a:srgbClr val="0F172A"/>
              </a:solidFill>
              <a:latin typeface="Liberation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362" y="1038224"/>
            <a:ext cx="5611409" cy="26384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29589" y="1043662"/>
            <a:ext cx="2836314" cy="3899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48639" y="1087379"/>
            <a:ext cx="2817264" cy="35147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75" b="1" smtClean="0">
                <a:solidFill>
                  <a:srgbClr val="0F172A"/>
                </a:solidFill>
                <a:latin typeface="Liberation Sans"/>
              </a:rPr>
              <a:t> 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lang="en-US" sz="1275" b="1" smtClean="0">
                <a:solidFill>
                  <a:schemeClr val="bg1"/>
                </a:solidFill>
                <a:latin typeface="Liberation Sans"/>
              </a:rPr>
              <a:t>C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охраняем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структуру </a:t>
            </a: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звука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во времени и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по</a:t>
            </a: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частотам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, чтобы затем </a:t>
            </a: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подать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её в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CNN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.</a:t>
            </a:r>
            <a:endParaRPr lang="ru-RU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С помощью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Librosa </a:t>
            </a: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извлекаем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Mel-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признаки,</a:t>
            </a: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нормализуем и </a:t>
            </a: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формируем входной тензор</a:t>
            </a:r>
            <a:endParaRPr lang="en-US" sz="1275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 smtClean="0">
                <a:solidFill>
                  <a:schemeClr val="bg1"/>
                </a:solidFill>
                <a:latin typeface="Liberation Sans"/>
              </a:rPr>
              <a:t> 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Массив X_mel (8732, 1, 128, 256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) </a:t>
            </a: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sr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= 22 050 Гц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, n_fft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=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2048,</a:t>
            </a:r>
            <a:endParaRPr lang="en-US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hop </a:t>
            </a:r>
            <a:r>
              <a:rPr lang="ru-RU" sz="1200" b="1">
                <a:solidFill>
                  <a:schemeClr val="bg1"/>
                </a:solidFill>
                <a:latin typeface="Liberation Sans"/>
              </a:rPr>
              <a:t>=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512, </a:t>
            </a:r>
            <a:r>
              <a:rPr lang="ru-RU" sz="1200" b="1">
                <a:solidFill>
                  <a:schemeClr val="bg1"/>
                </a:solidFill>
              </a:rPr>
              <a:t>N_MELS = </a:t>
            </a:r>
            <a:r>
              <a:rPr lang="ru-RU" sz="1200" b="1" smtClean="0">
                <a:solidFill>
                  <a:schemeClr val="bg1"/>
                </a:solidFill>
              </a:rPr>
              <a:t>128,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TW = 256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</a:t>
            </a:r>
            <a:endParaRPr lang="en-US" sz="1275" b="1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sz="120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Liberation Sans"/>
              </a:rPr>
              <a:t>.</a:t>
            </a:r>
            <a:endParaRPr sz="1200">
              <a:solidFill>
                <a:schemeClr val="accent4">
                  <a:lumMod val="40000"/>
                  <a:lumOff val="60000"/>
                </a:schemeClr>
              </a:solidFill>
              <a:latin typeface="Liberatio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2364" y="3771900"/>
            <a:ext cx="5461407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u="sng" smtClean="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Строим сеть </a:t>
            </a:r>
            <a:r>
              <a:rPr lang="en-US" altLang="ru-RU" sz="1600" b="1" u="sng" smtClean="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CNN </a:t>
            </a:r>
            <a:r>
              <a:rPr lang="ru-RU" altLang="ru-RU" sz="1600" b="1" u="sng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такого вида :</a:t>
            </a:r>
            <a:r>
              <a:rPr lang="ru-RU" altLang="ru-RU" sz="1100" b="1">
                <a:solidFill>
                  <a:srgbClr val="008000"/>
                </a:solidFill>
                <a:latin typeface="Liberation Sans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ru-RU" altLang="ru-RU" sz="600" b="1">
              <a:solidFill>
                <a:schemeClr val="tx1"/>
              </a:solidFill>
              <a:latin typeface="Liberatio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smtClean="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Каналы:</a:t>
            </a:r>
            <a:r>
              <a:rPr lang="ru-RU" altLang="ru-RU" sz="1100" b="1" smtClean="0">
                <a:solidFill>
                  <a:srgbClr val="008000"/>
                </a:solidFill>
                <a:latin typeface="Liberation San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altLang="ru-RU" sz="160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(1 → 32 → 64 → 128 → 256 → classifier)</a:t>
            </a:r>
            <a:endParaRPr lang="ru-RU" altLang="ru-RU" sz="600">
              <a:solidFill>
                <a:schemeClr val="tx1"/>
              </a:solidFill>
              <a:latin typeface="Liberatio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smtClean="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Признаки: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mtClean="0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128 × 256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64 × 128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32 × 64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16 × 32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8 × 16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Times New Roman" panose="02020603050405020304" pitchFamily="18" charset="0"/>
                <a:cs typeface="Arial" panose="020B0604020202020204" pitchFamily="34" charset="0"/>
              </a:rPr>
              <a:t>→ </a:t>
            </a:r>
            <a:r>
              <a:rPr lang="ru-RU" altLang="ru-RU">
                <a:solidFill>
                  <a:schemeClr val="tx1"/>
                </a:solidFill>
                <a:latin typeface="Liberation Sans"/>
                <a:ea typeface="Calibri" panose="020F0502020204030204" pitchFamily="34" charset="0"/>
                <a:cs typeface="Times New Roman" panose="02020603050405020304" pitchFamily="18" charset="0"/>
              </a:rPr>
              <a:t>1 × 1)</a:t>
            </a:r>
            <a:endParaRPr lang="ru-RU" altLang="ru-RU">
              <a:solidFill>
                <a:schemeClr val="tx1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50281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4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2796" y="127636"/>
            <a:ext cx="3000375" cy="9677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FF0000"/>
                </a:solidFill>
                <a:latin typeface="Liberation Sans"/>
              </a:rPr>
              <a:t>Итог эксперимента</a:t>
            </a:r>
            <a:r>
              <a:rPr lang="en-US" sz="1275" b="1" smtClean="0">
                <a:solidFill>
                  <a:srgbClr val="FF0000"/>
                </a:solidFill>
                <a:latin typeface="Liberation Sans"/>
              </a:rPr>
              <a:t> c </a:t>
            </a:r>
            <a:r>
              <a:rPr lang="ru-RU" sz="1275" b="1" smtClean="0">
                <a:solidFill>
                  <a:srgbClr val="FF0000"/>
                </a:solidFill>
                <a:latin typeface="Liberation Sans"/>
              </a:rPr>
              <a:t>С</a:t>
            </a:r>
            <a:r>
              <a:rPr lang="en-US" sz="1275" b="1" smtClean="0">
                <a:solidFill>
                  <a:srgbClr val="FF0000"/>
                </a:solidFill>
                <a:latin typeface="Liberation Sans"/>
              </a:rPr>
              <a:t>NN</a:t>
            </a:r>
            <a:r>
              <a:rPr sz="1275" b="1" smtClean="0">
                <a:solidFill>
                  <a:srgbClr val="FF0000"/>
                </a:solidFill>
                <a:latin typeface="Liberation Sans"/>
              </a:rPr>
              <a:t>: </a:t>
            </a:r>
            <a:endParaRPr lang="en-US" sz="1275" b="1" smtClean="0">
              <a:solidFill>
                <a:srgbClr val="FF000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0.5449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200" b="1" smtClean="0"/>
              <a:t>0.0535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0.5549</a:t>
            </a:r>
            <a:r>
              <a:rPr lang="ru-RU" sz="1125" b="1">
                <a:solidFill>
                  <a:srgbClr val="334155"/>
                </a:solidFill>
                <a:latin typeface="Liberation Sans"/>
              </a:rPr>
              <a:t> ± </a:t>
            </a:r>
            <a:r>
              <a:rPr lang="ru-RU" sz="1200" b="1"/>
              <a:t>0.0596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0.4950 ± 0.0601 — ниже Baseline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13" y="1504950"/>
            <a:ext cx="4214775" cy="3409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72088" y="379096"/>
            <a:ext cx="3557549" cy="1139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Подача одноканальной </a:t>
            </a:r>
            <a:r>
              <a:rPr lang="en-US" sz="1125" b="1" smtClean="0">
                <a:solidFill>
                  <a:schemeClr val="tx1"/>
                </a:solidFill>
                <a:latin typeface="Liberation Sans"/>
              </a:rPr>
              <a:t>Mel-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спектрограммы</a:t>
            </a:r>
          </a:p>
          <a:p>
            <a:pPr algn="ctr">
              <a:spcAft>
                <a:spcPts val="600"/>
              </a:spcAft>
            </a:pPr>
            <a:r>
              <a:rPr lang="ru-RU" sz="1125" b="1">
                <a:solidFill>
                  <a:schemeClr val="tx1"/>
                </a:solidFill>
                <a:latin typeface="Liberation Sans"/>
              </a:rPr>
              <a:t>в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 свёрточную сеть на </a:t>
            </a:r>
            <a:r>
              <a:rPr lang="en-US" sz="1125" b="1" smtClean="0">
                <a:solidFill>
                  <a:schemeClr val="tx1"/>
                </a:solidFill>
                <a:latin typeface="Liberation Sans"/>
              </a:rPr>
              <a:t>PyTorch. 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Одной лишь</a:t>
            </a:r>
          </a:p>
          <a:p>
            <a:pPr algn="ctr">
              <a:spcAft>
                <a:spcPts val="600"/>
              </a:spcAft>
            </a:pPr>
            <a:r>
              <a:rPr lang="en-US" sz="1125" b="1">
                <a:solidFill>
                  <a:schemeClr val="tx1"/>
                </a:solidFill>
                <a:latin typeface="Liberation Sans"/>
              </a:rPr>
              <a:t>c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татической «картинки» звука оказалось</a:t>
            </a:r>
          </a:p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недостаточно.</a:t>
            </a:r>
            <a:endParaRPr sz="1125" b="1">
              <a:solidFill>
                <a:schemeClr val="tx1"/>
              </a:solidFill>
              <a:latin typeface="Liberation San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1" y="1409700"/>
            <a:ext cx="3444469" cy="185590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18" y="3265601"/>
            <a:ext cx="3487332" cy="18640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39" y="1168349"/>
            <a:ext cx="3194685" cy="1683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Графики обучения Модели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CNN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для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LOSS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MCC</a:t>
            </a:r>
            <a:endParaRPr sz="1000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71316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pic>
        <p:nvPicPr>
          <p:cNvPr id="3" name="Picture 2" descr="panel_s7_3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28" y="0"/>
            <a:ext cx="4571543" cy="51435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42888" y="342900"/>
            <a:ext cx="4043362" cy="628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b="1" smtClean="0">
                <a:solidFill>
                  <a:srgbClr val="2563EB"/>
                </a:solidFill>
                <a:latin typeface="Liberation Sans"/>
              </a:rPr>
              <a:t>5.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АРХИТЕКТУРА RESNET18</a:t>
            </a:r>
          </a:p>
          <a:p>
            <a:r>
              <a:rPr sz="1875" b="1" smtClean="0">
                <a:solidFill>
                  <a:srgbClr val="0F172A"/>
                </a:solidFill>
                <a:latin typeface="Liberation Sans"/>
              </a:rPr>
              <a:t>Трёхканальный вход и ResNet18</a:t>
            </a:r>
            <a:endParaRPr sz="1875" b="1">
              <a:solidFill>
                <a:srgbClr val="0F172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140" y="1028700"/>
            <a:ext cx="3737610" cy="390698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Три канала (RGB-схема):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Тензор </a:t>
            </a:r>
            <a:r>
              <a:rPr sz="1125">
                <a:solidFill>
                  <a:srgbClr val="334155"/>
                </a:solidFill>
                <a:latin typeface="Liberation Sans"/>
              </a:rPr>
              <a:t>(8732, 3, 128, 256): </a:t>
            </a:r>
            <a:endParaRPr lang="ru-RU" sz="1125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Mel </a:t>
            </a:r>
            <a:r>
              <a:rPr sz="1125">
                <a:solidFill>
                  <a:srgbClr val="334155"/>
                </a:solidFill>
                <a:latin typeface="Liberation Sans"/>
              </a:rPr>
              <a:t>(статика), </a:t>
            </a:r>
            <a:endParaRPr lang="ru-RU" sz="1125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Delta </a:t>
            </a:r>
            <a:r>
              <a:rPr sz="1125">
                <a:solidFill>
                  <a:srgbClr val="334155"/>
                </a:solidFill>
                <a:latin typeface="Liberation Sans"/>
              </a:rPr>
              <a:t>(скорость) и Delta-Delta (ускорение).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Архитектура ResNet18: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Сеть </a:t>
            </a:r>
            <a:r>
              <a:rPr sz="1125">
                <a:solidFill>
                  <a:srgbClr val="334155"/>
                </a:solidFill>
                <a:latin typeface="Liberation Sans"/>
              </a:rPr>
              <a:t>из torchvision с остаточными связями, адаптированная под 3 канала и 10 классов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Ключевые особенности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- </a:t>
            </a:r>
            <a:r>
              <a:rPr lang="en-US" sz="1275" smtClean="0">
                <a:solidFill>
                  <a:srgbClr val="0F172A"/>
                </a:solidFill>
                <a:latin typeface="Liberation Sans"/>
              </a:rPr>
              <a:t>Residual connections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lang="en-US" sz="1275" smtClean="0">
                <a:solidFill>
                  <a:srgbClr val="0F172A"/>
                </a:solidFill>
                <a:latin typeface="Liberation Sans"/>
              </a:rPr>
              <a:t>(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пропускные связи)</a:t>
            </a:r>
          </a:p>
          <a:p>
            <a:pPr>
              <a:spcAft>
                <a:spcPts val="600"/>
              </a:spcAft>
            </a:pPr>
            <a:r>
              <a:rPr lang="ru-RU" sz="1275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 - Глубокая архитектура (4 блока)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.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Приемущества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: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-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Хорошо работает с изображениями и</a:t>
            </a:r>
          </a:p>
          <a:p>
            <a:pPr>
              <a:spcAft>
                <a:spcPts val="600"/>
              </a:spcAft>
            </a:pPr>
            <a:r>
              <a:rPr lang="ru-RU" sz="1275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    спектрограммами</a:t>
            </a:r>
          </a:p>
          <a:p>
            <a:pPr>
              <a:spcAft>
                <a:spcPts val="600"/>
              </a:spcAft>
            </a:pPr>
            <a:r>
              <a:rPr lang="ru-RU" sz="1275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 - Обучение глубоких сетей без проблемы </a:t>
            </a:r>
          </a:p>
          <a:p>
            <a:pPr>
              <a:spcAft>
                <a:spcPts val="600"/>
              </a:spcAft>
            </a:pPr>
            <a:r>
              <a:rPr lang="ru-RU" sz="1275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smtClean="0">
                <a:solidFill>
                  <a:srgbClr val="0F172A"/>
                </a:solidFill>
                <a:latin typeface="Liberation Sans"/>
              </a:rPr>
              <a:t>   затухания градиента.</a:t>
            </a:r>
            <a:endParaRPr sz="1125">
              <a:solidFill>
                <a:srgbClr val="334155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25340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205"/>
            <a:ext cx="9144000" cy="483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2796" y="127636"/>
            <a:ext cx="3465436" cy="9677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FF0000"/>
                </a:solidFill>
                <a:latin typeface="Liberation Sans"/>
              </a:rPr>
              <a:t>Итог эксперимента</a:t>
            </a:r>
            <a:r>
              <a:rPr lang="en-US" sz="1275" b="1" smtClean="0">
                <a:solidFill>
                  <a:srgbClr val="FF0000"/>
                </a:solidFill>
                <a:latin typeface="Liberation Sans"/>
              </a:rPr>
              <a:t> c ResNet</a:t>
            </a:r>
            <a:r>
              <a:rPr sz="1275" b="1" smtClean="0">
                <a:solidFill>
                  <a:srgbClr val="FF0000"/>
                </a:solidFill>
                <a:latin typeface="Liberation Sans"/>
              </a:rPr>
              <a:t>: </a:t>
            </a:r>
            <a:endParaRPr lang="en-US" sz="1275" b="1" smtClean="0">
              <a:solidFill>
                <a:srgbClr val="FF000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 smtClean="0">
                <a:solidFill>
                  <a:srgbClr val="334155"/>
                </a:solidFill>
                <a:latin typeface="Liberation Sans"/>
              </a:rPr>
              <a:t>0.6601 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200" b="1">
                <a:latin typeface="Liberation Sans"/>
              </a:rPr>
              <a:t>0.0663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 smtClean="0">
                <a:solidFill>
                  <a:srgbClr val="334155"/>
                </a:solidFill>
                <a:latin typeface="Liberation Sans"/>
              </a:rPr>
              <a:t>0.6641 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200" b="1">
                <a:latin typeface="Liberation Sans"/>
              </a:rPr>
              <a:t>0.0686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=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 0.6237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±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0.0740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— 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выше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Baseline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2088" y="379096"/>
            <a:ext cx="3557549" cy="1139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Использование производных спектральных</a:t>
            </a:r>
          </a:p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Признаков (</a:t>
            </a:r>
            <a:r>
              <a:rPr lang="en-US" sz="1125" b="1" smtClean="0">
                <a:solidFill>
                  <a:schemeClr val="tx1"/>
                </a:solidFill>
                <a:latin typeface="Liberation Sans"/>
              </a:rPr>
              <a:t>Delta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)</a:t>
            </a:r>
            <a:r>
              <a:rPr lang="en-US" sz="1125" b="1" smtClean="0">
                <a:solidFill>
                  <a:schemeClr val="tx1"/>
                </a:solidFill>
                <a:latin typeface="Liberation Sans"/>
              </a:rPr>
              <a:t> </a:t>
            </a: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совместно с глубокой</a:t>
            </a:r>
          </a:p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Свёрточной сетью позволило превысить </a:t>
            </a:r>
            <a:endParaRPr lang="en-US" sz="1125" b="1" smtClean="0">
              <a:solidFill>
                <a:schemeClr val="tx1"/>
              </a:solidFill>
              <a:latin typeface="Liberation Sans"/>
            </a:endParaRPr>
          </a:p>
          <a:p>
            <a:pPr algn="ctr">
              <a:spcAft>
                <a:spcPts val="600"/>
              </a:spcAft>
            </a:pPr>
            <a:r>
              <a:rPr lang="ru-RU" sz="1125" b="1" smtClean="0">
                <a:solidFill>
                  <a:schemeClr val="tx1"/>
                </a:solidFill>
                <a:latin typeface="Liberation Sans"/>
              </a:rPr>
              <a:t>уровень классического </a:t>
            </a:r>
            <a:r>
              <a:rPr lang="en-US" sz="1125" b="1" smtClean="0">
                <a:solidFill>
                  <a:schemeClr val="tx1"/>
                </a:solidFill>
                <a:latin typeface="Liberation Sans"/>
              </a:rPr>
              <a:t>ML.</a:t>
            </a:r>
            <a:endParaRPr sz="1125" b="1">
              <a:solidFill>
                <a:schemeClr val="tx1"/>
              </a:solidFill>
              <a:latin typeface="Liberatio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797" y="1168349"/>
            <a:ext cx="3310528" cy="1683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Графики обучения Модели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ResNet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для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LOSS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MCC</a:t>
            </a:r>
            <a:endParaRPr sz="1000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88" y="1518286"/>
            <a:ext cx="3939383" cy="320659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96" y="1409700"/>
            <a:ext cx="2941762" cy="18451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96" y="3327802"/>
            <a:ext cx="2941762" cy="157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4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342900"/>
            <a:ext cx="3961448" cy="5381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b="1">
                <a:solidFill>
                  <a:srgbClr val="2563EB"/>
                </a:solidFill>
                <a:latin typeface="Liberation Sans"/>
              </a:rPr>
              <a:t>6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. </a:t>
            </a:r>
            <a:r>
              <a:rPr b="1">
                <a:solidFill>
                  <a:srgbClr val="2563EB"/>
                </a:solidFill>
                <a:latin typeface="Liberation Sans"/>
              </a:rPr>
              <a:t>РЕКУРРЕНТНАЯ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СЕТЬ</a:t>
            </a:r>
            <a:endParaRPr b="1">
              <a:solidFill>
                <a:srgbClr val="2563EB"/>
              </a:solidFill>
              <a:latin typeface="Liberation Sans"/>
            </a:endParaRPr>
          </a:p>
          <a:p>
            <a:r>
              <a:rPr lang="ru-RU" sz="1200" b="1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Stacked Spectral Features </a:t>
            </a:r>
            <a:r>
              <a:rPr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(</a:t>
            </a:r>
            <a:r>
              <a:rPr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155 признаков</a:t>
            </a:r>
            <a:r>
              <a:rPr lang="en-US"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)</a:t>
            </a:r>
            <a:r>
              <a:rPr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 </a:t>
            </a:r>
            <a:r>
              <a:rPr sz="1200" b="1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и </a:t>
            </a:r>
            <a:r>
              <a:rPr sz="12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BiLSTM</a:t>
            </a:r>
            <a:endParaRPr sz="1200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499" y="881064"/>
            <a:ext cx="5542826" cy="14382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00" b="1">
                <a:solidFill>
                  <a:srgbClr val="0F172A"/>
                </a:solidFill>
                <a:latin typeface="Liberation Sans"/>
              </a:rPr>
              <a:t>Покадровый стекинг (155): </a:t>
            </a:r>
            <a:endParaRPr lang="en-US" sz="1200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 b="1" smtClean="0">
                <a:solidFill>
                  <a:srgbClr val="0F172A"/>
                </a:solidFill>
                <a:latin typeface="Liberation Sans"/>
              </a:rPr>
              <a:t>  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Объединение </a:t>
            </a:r>
            <a:r>
              <a:rPr sz="1200" b="1" smtClean="0">
                <a:solidFill>
                  <a:srgbClr val="00B050"/>
                </a:solidFill>
                <a:latin typeface="Liberation Sans"/>
              </a:rPr>
              <a:t>Log-Mel (128) </a:t>
            </a:r>
            <a:r>
              <a:rPr sz="1200" b="1" smtClean="0">
                <a:solidFill>
                  <a:srgbClr val="334155"/>
                </a:solidFill>
                <a:latin typeface="Liberation Sans"/>
              </a:rPr>
              <a:t>+ </a:t>
            </a:r>
            <a:r>
              <a:rPr sz="1200" b="1" smtClean="0">
                <a:solidFill>
                  <a:schemeClr val="accent4"/>
                </a:solidFill>
                <a:latin typeface="Liberation Sans"/>
              </a:rPr>
              <a:t>MFCC </a:t>
            </a:r>
            <a:r>
              <a:rPr sz="1200" b="1">
                <a:solidFill>
                  <a:schemeClr val="accent4"/>
                </a:solidFill>
                <a:latin typeface="Liberation Sans"/>
              </a:rPr>
              <a:t>(20) </a:t>
            </a:r>
            <a:r>
              <a:rPr sz="1200" b="1">
                <a:solidFill>
                  <a:srgbClr val="334155"/>
                </a:solidFill>
                <a:latin typeface="Liberation Sans"/>
              </a:rPr>
              <a:t>+ </a:t>
            </a:r>
            <a:r>
              <a:rPr sz="1200" b="1" smtClean="0">
                <a:solidFill>
                  <a:srgbClr val="FF0000"/>
                </a:solidFill>
                <a:latin typeface="Liberation Sans"/>
              </a:rPr>
              <a:t>Spectral </a:t>
            </a:r>
            <a:r>
              <a:rPr sz="1200" b="1">
                <a:solidFill>
                  <a:srgbClr val="FF0000"/>
                </a:solidFill>
                <a:latin typeface="Liberation Sans"/>
              </a:rPr>
              <a:t>Contrast (7) </a:t>
            </a:r>
            <a:endParaRPr lang="en-US" sz="1200" b="1" smtClean="0">
              <a:solidFill>
                <a:srgbClr val="FF000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200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на </a:t>
            </a:r>
            <a:r>
              <a:rPr sz="1200">
                <a:solidFill>
                  <a:srgbClr val="334155"/>
                </a:solidFill>
                <a:latin typeface="Liberation Sans"/>
              </a:rPr>
              <a:t>каждом из 180 кадров</a:t>
            </a:r>
            <a:r>
              <a:rPr sz="1200" smtClean="0">
                <a:solidFill>
                  <a:srgbClr val="334155"/>
                </a:solidFill>
                <a:latin typeface="Liberation Sans"/>
              </a:rPr>
              <a:t>.</a:t>
            </a:r>
            <a:endParaRPr lang="en-US" sz="1200" smtClean="0">
              <a:solidFill>
                <a:srgbClr val="334155"/>
              </a:solidFill>
              <a:latin typeface="Liberation Sans"/>
            </a:endParaRPr>
          </a:p>
          <a:p>
            <a:pPr lvl="0"/>
            <a:r>
              <a:rPr lang="en-US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200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lang="ru-RU" sz="1200"/>
              <a:t>BiLSTM использует последовательность этих признаков</a:t>
            </a:r>
            <a:r>
              <a:rPr lang="ru-RU" sz="1200" smtClean="0"/>
              <a:t>,</a:t>
            </a:r>
          </a:p>
          <a:p>
            <a:pPr lvl="0"/>
            <a:endParaRPr lang="en-US" sz="1200" smtClean="0"/>
          </a:p>
          <a:p>
            <a:pPr lvl="0"/>
            <a:r>
              <a:rPr lang="en-US" sz="1200"/>
              <a:t> </a:t>
            </a:r>
            <a:r>
              <a:rPr lang="en-US" sz="1200" smtClean="0"/>
              <a:t>  </a:t>
            </a:r>
            <a:r>
              <a:rPr lang="ru-RU" sz="1200" smtClean="0"/>
              <a:t> </a:t>
            </a:r>
            <a:r>
              <a:rPr lang="ru-RU" sz="1200"/>
              <a:t>чтобы учитывать, как </a:t>
            </a:r>
            <a:r>
              <a:rPr lang="ru-RU" sz="1200" smtClean="0"/>
              <a:t>звук меняется </a:t>
            </a:r>
            <a:r>
              <a:rPr lang="ru-RU" sz="1200"/>
              <a:t>во времени</a:t>
            </a:r>
            <a:r>
              <a:rPr lang="ru-RU" sz="1200" smtClean="0"/>
              <a:t>.</a:t>
            </a:r>
            <a:endParaRPr lang="en-US" sz="1200" smtClean="0"/>
          </a:p>
          <a:p>
            <a:endParaRPr sz="1125">
              <a:solidFill>
                <a:srgbClr val="334155"/>
              </a:solidFill>
              <a:latin typeface="Liberation Sans"/>
            </a:endParaRPr>
          </a:p>
        </p:txBody>
      </p:sp>
      <p:sp>
        <p:nvSpPr>
          <p:cNvPr id="9" name="AutoShape 4" descr="Gemini_Generated_Image_mnk9vgmnk9vgmnk9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48640" y="2443163"/>
            <a:ext cx="7833360" cy="179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lang="ru-RU" sz="1200" b="1">
                <a:solidFill>
                  <a:srgbClr val="0F172A"/>
                </a:solidFill>
                <a:latin typeface="Liberation Sans"/>
              </a:rPr>
              <a:t>Архитектура BiLSTM: </a:t>
            </a: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rgbClr val="0F172A"/>
                </a:solidFill>
                <a:latin typeface="Liberation Sans"/>
              </a:rPr>
              <a:t>  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Двунаправленная LSTM (2 слоя, hidden_size =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128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,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dropout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= 0.3),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  на входе [32, 180, 155], на выходе [4, 10]</a:t>
            </a: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lang="ru-RU" sz="1200" b="1">
                <a:solidFill>
                  <a:srgbClr val="0F172A"/>
                </a:solidFill>
                <a:latin typeface="Liberation Sans"/>
              </a:rPr>
              <a:t>Динамика обучения: </a:t>
            </a:r>
            <a:endParaRPr lang="ru-RU" sz="1200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rgbClr val="0F172A"/>
                </a:solidFill>
                <a:latin typeface="Liberation Sans"/>
              </a:rPr>
              <a:t> 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Быстрая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сходимость к 10–15 эпохе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с 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200" smtClean="0">
                <a:solidFill>
                  <a:srgbClr val="334155"/>
                </a:solidFill>
                <a:latin typeface="Liberation Sans"/>
              </a:rPr>
              <a:t>  последующим </a:t>
            </a:r>
            <a:r>
              <a:rPr lang="ru-RU" sz="1200">
                <a:solidFill>
                  <a:srgbClr val="334155"/>
                </a:solidFill>
                <a:latin typeface="Liberation Sans"/>
              </a:rPr>
              <a:t>переобучением по validation loss.</a:t>
            </a: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66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4" descr="Gemini_Generated_Image_mnk9vgmnk9vgmnk9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09"/>
            <a:ext cx="9144000" cy="507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5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2796" y="127636"/>
            <a:ext cx="3000375" cy="9677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FF0000"/>
                </a:solidFill>
                <a:latin typeface="Liberation Sans"/>
              </a:rPr>
              <a:t>Итог эксперимента</a:t>
            </a:r>
            <a:r>
              <a:rPr lang="en-US" sz="1275" b="1" smtClean="0">
                <a:solidFill>
                  <a:srgbClr val="FF0000"/>
                </a:solidFill>
                <a:latin typeface="Liberation Sans"/>
              </a:rPr>
              <a:t> c BiLSTM</a:t>
            </a:r>
            <a:r>
              <a:rPr sz="1275" b="1" smtClean="0">
                <a:solidFill>
                  <a:srgbClr val="FF0000"/>
                </a:solidFill>
                <a:latin typeface="Liberation Sans"/>
              </a:rPr>
              <a:t>: </a:t>
            </a:r>
            <a:endParaRPr lang="en-US" sz="1275" b="1" smtClean="0">
              <a:solidFill>
                <a:srgbClr val="FF000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0.6077 ± 0.0512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0.6186 ± 0.0529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=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 0.5635 ± 0.0573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— 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ниже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Baseline</a:t>
            </a:r>
            <a:r>
              <a:rPr sz="1125">
                <a:solidFill>
                  <a:srgbClr val="334155"/>
                </a:solidFill>
                <a:latin typeface="Liberation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607" y="598754"/>
            <a:ext cx="3557549" cy="1139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200" b="1" smtClean="0">
                <a:solidFill>
                  <a:schemeClr val="tx1"/>
                </a:solidFill>
                <a:latin typeface="Liberation Sans"/>
              </a:rPr>
              <a:t>Учет исключительно временной последовательности без пространственного локального извлечения паттернов оказался менее эффективен, чем свёрточные подходы</a:t>
            </a:r>
            <a:endParaRPr sz="1200" b="1">
              <a:solidFill>
                <a:schemeClr val="tx1"/>
              </a:solidFill>
              <a:latin typeface="Liberatio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797" y="1168349"/>
            <a:ext cx="3310528" cy="1683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Графики обучения Модели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BiLSTM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для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LOSS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MCC</a:t>
            </a:r>
            <a:endParaRPr sz="1000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96" y="1409700"/>
            <a:ext cx="3310529" cy="173780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97" y="3147503"/>
            <a:ext cx="3381822" cy="173303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02" y="1518285"/>
            <a:ext cx="4473161" cy="319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342900"/>
            <a:ext cx="8318269" cy="4144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ru-RU" sz="1600" b="1">
                <a:solidFill>
                  <a:srgbClr val="2563EB"/>
                </a:solidFill>
                <a:latin typeface="Liberation Sans"/>
              </a:rPr>
              <a:t>7</a:t>
            </a:r>
            <a:r>
              <a:rPr lang="en-US" sz="1600" b="1" smtClean="0">
                <a:solidFill>
                  <a:srgbClr val="2563EB"/>
                </a:solidFill>
                <a:latin typeface="Liberation Sans"/>
              </a:rPr>
              <a:t>. </a:t>
            </a:r>
            <a:r>
              <a:rPr sz="1600" b="1" smtClean="0">
                <a:solidFill>
                  <a:srgbClr val="2563EB"/>
                </a:solidFill>
                <a:latin typeface="Liberation Sans"/>
              </a:rPr>
              <a:t>ГИБРИДНАЯ </a:t>
            </a:r>
            <a:r>
              <a:rPr sz="1600" b="1">
                <a:solidFill>
                  <a:srgbClr val="2563EB"/>
                </a:solidFill>
                <a:latin typeface="Liberation Sans"/>
              </a:rPr>
              <a:t>МОДЕЛЬ CNN + </a:t>
            </a:r>
            <a:r>
              <a:rPr sz="1600" b="1" smtClean="0">
                <a:solidFill>
                  <a:srgbClr val="2563EB"/>
                </a:solidFill>
                <a:latin typeface="Liberation Sans"/>
              </a:rPr>
              <a:t>TRANSFORMER</a:t>
            </a:r>
            <a:endParaRPr sz="1600" b="1">
              <a:solidFill>
                <a:srgbClr val="2563EB"/>
              </a:solidFill>
              <a:latin typeface="Liberatio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952" y="970598"/>
            <a:ext cx="8558848" cy="3086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b="1">
                <a:solidFill>
                  <a:srgbClr val="0F172A"/>
                </a:solidFill>
                <a:latin typeface="Liberation Sans"/>
              </a:rPr>
              <a:t>Локальные и глобальные связи</a:t>
            </a:r>
            <a:r>
              <a:rPr b="1" smtClean="0">
                <a:solidFill>
                  <a:srgbClr val="0F172A"/>
                </a:solidFill>
                <a:latin typeface="Liberation Sans"/>
              </a:rPr>
              <a:t>:</a:t>
            </a:r>
            <a:endParaRPr lang="en-US" b="1" smtClean="0">
              <a:solidFill>
                <a:srgbClr val="0F172A"/>
              </a:solidFill>
              <a:latin typeface="Liberation Sans"/>
            </a:endParaRPr>
          </a:p>
          <a:p>
            <a:pPr algn="ctr">
              <a:spcAft>
                <a:spcPts val="600"/>
              </a:spcAft>
            </a:pPr>
            <a:r>
              <a:rPr lang="en-US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en-US" sz="1275"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>
                <a:solidFill>
                  <a:srgbClr val="334155"/>
                </a:solidFill>
                <a:latin typeface="Liberation Sans"/>
              </a:rPr>
              <a:t>CNN извлекает частотно-временные признаки, а Transformer моделирует контекст во времени.</a:t>
            </a:r>
          </a:p>
          <a:p>
            <a:pPr algn="ctr">
              <a:spcAft>
                <a:spcPts val="600"/>
              </a:spcAft>
            </a:pPr>
            <a:r>
              <a:rPr b="1">
                <a:solidFill>
                  <a:srgbClr val="0F172A"/>
                </a:solidFill>
                <a:latin typeface="Liberation Sans"/>
              </a:rPr>
              <a:t>Схема преобразования: </a:t>
            </a:r>
            <a:endParaRPr lang="en-US" b="1" smtClean="0">
              <a:solidFill>
                <a:srgbClr val="0F172A"/>
              </a:solidFill>
              <a:latin typeface="Liberation Sans"/>
            </a:endParaRPr>
          </a:p>
          <a:p>
            <a:pPr algn="ctr">
              <a:spcAft>
                <a:spcPts val="600"/>
              </a:spcAft>
            </a:pPr>
            <a:endParaRPr lang="en-US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en-US" sz="1275" b="1" smtClean="0">
                <a:solidFill>
                  <a:srgbClr val="0F172A"/>
                </a:solidFill>
                <a:latin typeface="Liberation Sans"/>
              </a:rPr>
              <a:t>  </a:t>
            </a:r>
            <a:endParaRPr sz="1125">
              <a:solidFill>
                <a:srgbClr val="334155"/>
              </a:solidFill>
              <a:latin typeface="Liberation 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00509"/>
            <a:ext cx="7911251" cy="226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341"/>
            <a:ext cx="9144000" cy="39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0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2796" y="127636"/>
            <a:ext cx="3594259" cy="9677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FF0000"/>
                </a:solidFill>
                <a:latin typeface="Liberation Sans"/>
              </a:rPr>
              <a:t>Итог эксперимента</a:t>
            </a:r>
            <a:r>
              <a:rPr lang="en-US" sz="1275" b="1" smtClean="0">
                <a:solidFill>
                  <a:srgbClr val="FF0000"/>
                </a:solidFill>
                <a:latin typeface="Liberation Sans"/>
              </a:rPr>
              <a:t> c CNN+Transformer</a:t>
            </a:r>
            <a:r>
              <a:rPr sz="1275" b="1" smtClean="0">
                <a:solidFill>
                  <a:srgbClr val="FF0000"/>
                </a:solidFill>
                <a:latin typeface="Liberation Sans"/>
              </a:rPr>
              <a:t>: </a:t>
            </a:r>
            <a:endParaRPr lang="en-US" sz="1275" b="1" smtClean="0">
              <a:solidFill>
                <a:srgbClr val="FF0000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smtClean="0">
                <a:solidFill>
                  <a:srgbClr val="334155"/>
                </a:solidFill>
                <a:latin typeface="Liberation Sans"/>
              </a:rPr>
              <a:t> 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Accuracy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0.6764 ± </a:t>
            </a:r>
            <a:r>
              <a:rPr lang="ru-RU" sz="1200" b="1" smtClean="0">
                <a:solidFill>
                  <a:srgbClr val="334155"/>
                </a:solidFill>
                <a:latin typeface="Liberation Sans"/>
              </a:rPr>
              <a:t>0.0599</a:t>
            </a:r>
            <a:r>
              <a:rPr lang="en-US" sz="1200" b="1" smtClean="0">
                <a:solidFill>
                  <a:srgbClr val="334155"/>
                </a:solidFill>
                <a:latin typeface="Liberation Sans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F1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-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score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= 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0.6919 ± 0.0500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, </a:t>
            </a:r>
            <a:endParaRPr lang="en-US" sz="1125" b="1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en-US" sz="1125" b="1">
                <a:solidFill>
                  <a:srgbClr val="334155"/>
                </a:solidFill>
                <a:latin typeface="Liberation Sans"/>
              </a:rPr>
              <a:t> </a:t>
            </a:r>
            <a:r>
              <a:rPr lang="en-US" sz="1125" b="1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MCC =</a:t>
            </a:r>
            <a:r>
              <a:rPr lang="ru-RU" sz="1200" b="1">
                <a:solidFill>
                  <a:srgbClr val="334155"/>
                </a:solidFill>
                <a:latin typeface="Liberation Sans"/>
              </a:rPr>
              <a:t> 0.6405 ± 0.0667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— </a:t>
            </a:r>
            <a:r>
              <a:rPr lang="ru-RU" sz="1125" b="1" smtClean="0">
                <a:solidFill>
                  <a:srgbClr val="334155"/>
                </a:solidFill>
                <a:latin typeface="Liberation Sans"/>
              </a:rPr>
              <a:t>ещё выше</a:t>
            </a:r>
            <a:r>
              <a:rPr sz="1125" b="1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 b="1">
                <a:solidFill>
                  <a:srgbClr val="334155"/>
                </a:solidFill>
                <a:latin typeface="Liberation Sans"/>
              </a:rPr>
              <a:t>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32" y="1168349"/>
            <a:ext cx="4039191" cy="1683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Графики обучения Модели </a:t>
            </a:r>
            <a:r>
              <a:rPr lang="en-US" sz="1000" b="1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CNN+Transformer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для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LOSS </a:t>
            </a:r>
            <a:r>
              <a:rPr lang="ru-RU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и </a:t>
            </a:r>
            <a:r>
              <a:rPr lang="en-US" sz="1000" b="1" smtClean="0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MCC</a:t>
            </a:r>
            <a:endParaRPr sz="1000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0" y="1336727"/>
            <a:ext cx="3285798" cy="18307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8" y="3167428"/>
            <a:ext cx="3352800" cy="183001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66087"/>
            <a:ext cx="4041906" cy="257371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49" y="219105"/>
            <a:ext cx="3712248" cy="57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0549" y="1130402"/>
            <a:ext cx="3557549" cy="203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125" b="1">
                <a:solidFill>
                  <a:schemeClr val="accent1">
                    <a:lumMod val="75000"/>
                  </a:schemeClr>
                </a:solidFill>
                <a:latin typeface="Liberation Sans"/>
              </a:rPr>
              <a:t>Classification report for CNN+Transformer</a:t>
            </a:r>
            <a:endParaRPr sz="1125" b="1">
              <a:solidFill>
                <a:schemeClr val="accent1">
                  <a:lumMod val="75000"/>
                </a:schemeClr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291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050"/>
          </a:p>
        </p:txBody>
      </p:sp>
      <p:sp>
        <p:nvSpPr>
          <p:cNvPr id="4" name="TextBox 3"/>
          <p:cNvSpPr txBox="1"/>
          <p:nvPr/>
        </p:nvSpPr>
        <p:spPr>
          <a:xfrm>
            <a:off x="262890" y="360045"/>
            <a:ext cx="4194810" cy="3209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b="1">
                <a:solidFill>
                  <a:srgbClr val="2563EB"/>
                </a:solidFill>
                <a:latin typeface="Liberation Sans"/>
              </a:rPr>
              <a:t>8</a:t>
            </a:r>
            <a:r>
              <a:rPr lang="ru-RU" b="1" smtClean="0">
                <a:solidFill>
                  <a:srgbClr val="2563EB"/>
                </a:solidFill>
                <a:latin typeface="Liberation Sans"/>
              </a:rPr>
              <a:t>.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ПРИМЕНЕНИЕ </a:t>
            </a:r>
            <a:r>
              <a:rPr b="1">
                <a:solidFill>
                  <a:srgbClr val="2563EB"/>
                </a:solidFill>
                <a:latin typeface="Liberation Sans"/>
              </a:rPr>
              <a:t>НА НОВЫХ </a:t>
            </a:r>
            <a:r>
              <a:rPr b="1" smtClean="0">
                <a:solidFill>
                  <a:srgbClr val="2563EB"/>
                </a:solidFill>
                <a:latin typeface="Liberation Sans"/>
              </a:rPr>
              <a:t>WAV-ЗАПИСЯХ</a:t>
            </a:r>
            <a:endParaRPr b="1">
              <a:solidFill>
                <a:srgbClr val="2563EB"/>
              </a:solidFill>
              <a:latin typeface="Liberation San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7308" y="2804160"/>
            <a:ext cx="3921330" cy="620078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417308" y="681037"/>
            <a:ext cx="4040391" cy="19621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 smtClean="0">
                <a:solidFill>
                  <a:srgbClr val="0F172A"/>
                </a:solidFill>
                <a:latin typeface="Liberation Sans"/>
              </a:rPr>
              <a:t>Обучение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финальной модели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 </a:t>
            </a:r>
            <a:r>
              <a:rPr sz="1275" b="1">
                <a:solidFill>
                  <a:srgbClr val="0F172A"/>
                </a:solidFill>
                <a:latin typeface="Liberation Sans"/>
              </a:rPr>
              <a:t>на всех данных: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Лучшая </a:t>
            </a:r>
            <a:r>
              <a:rPr sz="1125">
                <a:solidFill>
                  <a:srgbClr val="334155"/>
                </a:solidFill>
                <a:latin typeface="Liberation Sans"/>
              </a:rPr>
              <a:t>архитектура CNNTransformer обучена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на</a:t>
            </a:r>
            <a:endParaRPr lang="ru-RU" sz="1125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полном </a:t>
            </a:r>
            <a:r>
              <a:rPr sz="1125">
                <a:solidFill>
                  <a:srgbClr val="334155"/>
                </a:solidFill>
                <a:latin typeface="Liberation Sans"/>
              </a:rPr>
              <a:t>наборе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данных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>
                <a:solidFill>
                  <a:srgbClr val="334155"/>
                </a:solidFill>
                <a:latin typeface="Liberation Sans"/>
              </a:rPr>
              <a:t>без </a:t>
            </a:r>
            <a:r>
              <a:rPr lang="ru-RU" sz="1125">
                <a:solidFill>
                  <a:srgbClr val="334155"/>
                </a:solidFill>
                <a:latin typeface="Liberation Sans"/>
              </a:rPr>
              <a:t>"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early stopping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"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.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И</a:t>
            </a: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переводим модель в состояние предсказания.</a:t>
            </a:r>
            <a:endParaRPr sz="1125">
              <a:solidFill>
                <a:srgbClr val="334155"/>
              </a:solidFill>
              <a:latin typeface="Liberation Sans"/>
            </a:endParaRPr>
          </a:p>
          <a:p>
            <a:pPr marL="150876" indent="-150876">
              <a:spcAft>
                <a:spcPts val="600"/>
              </a:spcAft>
              <a:buFont typeface="Liberation Sans"/>
              <a:buChar char="•"/>
            </a:pPr>
            <a:r>
              <a:rPr sz="1275" b="1">
                <a:solidFill>
                  <a:srgbClr val="0F172A"/>
                </a:solidFill>
                <a:latin typeface="Liberation Sans"/>
              </a:rPr>
              <a:t>Тест «Музыка Voice.wav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»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(пропетая голосом)</a:t>
            </a:r>
            <a:r>
              <a:rPr sz="1275" b="1" smtClean="0">
                <a:solidFill>
                  <a:srgbClr val="0F172A"/>
                </a:solidFill>
                <a:latin typeface="Liberation Sans"/>
              </a:rPr>
              <a:t>: </a:t>
            </a:r>
            <a:endParaRPr lang="ru-RU" sz="1275" b="1" smtClean="0">
              <a:solidFill>
                <a:srgbClr val="0F172A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275" b="1">
                <a:solidFill>
                  <a:srgbClr val="0F172A"/>
                </a:solidFill>
                <a:latin typeface="Liberation Sans"/>
              </a:rPr>
              <a:t> </a:t>
            </a:r>
            <a:r>
              <a:rPr lang="ru-RU" sz="1275" b="1" smtClean="0">
                <a:solidFill>
                  <a:srgbClr val="0F172A"/>
                </a:solidFill>
                <a:latin typeface="Liberation Sans"/>
              </a:rPr>
              <a:t> 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Запись </a:t>
            </a:r>
            <a:r>
              <a:rPr sz="1125">
                <a:solidFill>
                  <a:srgbClr val="334155"/>
                </a:solidFill>
                <a:latin typeface="Liberation Sans"/>
              </a:rPr>
              <a:t>(sr = 22 050 Гц, 281 629 отсчётов) подана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в</a:t>
            </a:r>
            <a:endParaRPr lang="ru-RU" sz="1125" smtClean="0">
              <a:solidFill>
                <a:srgbClr val="334155"/>
              </a:solidFill>
              <a:latin typeface="Liberation Sans"/>
            </a:endParaRPr>
          </a:p>
          <a:p>
            <a:pPr>
              <a:spcAft>
                <a:spcPts val="600"/>
              </a:spcAft>
            </a:pPr>
            <a:r>
              <a:rPr lang="ru-RU" sz="1125">
                <a:solidFill>
                  <a:srgbClr val="334155"/>
                </a:solidFill>
                <a:latin typeface="Liberation Sans"/>
              </a:rPr>
              <a:t> </a:t>
            </a:r>
            <a:r>
              <a:rPr lang="ru-RU" sz="1125" smtClean="0">
                <a:solidFill>
                  <a:srgbClr val="334155"/>
                </a:solidFill>
                <a:latin typeface="Liberation Sans"/>
              </a:rPr>
              <a:t>   </a:t>
            </a:r>
            <a:r>
              <a:rPr sz="1125" smtClean="0">
                <a:solidFill>
                  <a:srgbClr val="334155"/>
                </a:solidFill>
                <a:latin typeface="Liberation Sans"/>
              </a:rPr>
              <a:t> </a:t>
            </a:r>
            <a:r>
              <a:rPr sz="1125">
                <a:solidFill>
                  <a:srgbClr val="334155"/>
                </a:solidFill>
                <a:latin typeface="Liberation Sans"/>
              </a:rPr>
              <a:t>модель в режиме model.eval() и torch.no_grad().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90" y="2879884"/>
            <a:ext cx="3999548" cy="7110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450"/>
              </a:spcAft>
            </a:pPr>
            <a:r>
              <a:rPr sz="1350" b="1">
                <a:solidFill>
                  <a:srgbClr val="2563EB"/>
                </a:solidFill>
                <a:latin typeface="Liberation Sans"/>
              </a:rPr>
              <a:t>Предсказанный класс: street_music (класс 9)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Liberation Sans"/>
              </a:rPr>
              <a:t>Уверенность модели: 85.09% (street_music</a:t>
            </a:r>
            <a:r>
              <a:rPr sz="1200" b="1" smtClean="0">
                <a:solidFill>
                  <a:srgbClr val="0F172A"/>
                </a:solidFill>
                <a:latin typeface="Liberation Sans"/>
              </a:rPr>
              <a:t>)</a:t>
            </a:r>
            <a:endParaRPr sz="1200" b="1">
              <a:solidFill>
                <a:srgbClr val="0F172A"/>
              </a:solidFill>
              <a:latin typeface="Liberation Sans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486" y="73977"/>
            <a:ext cx="3533776" cy="24072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574" y="2605089"/>
            <a:ext cx="2671890" cy="22310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Музыка Voice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556615" y="1691458"/>
            <a:ext cx="534873" cy="53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4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7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548640" y="342900"/>
            <a:ext cx="8023860" cy="1028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ru-RU" sz="1800" b="1">
                <a:solidFill>
                  <a:srgbClr val="2563EB"/>
                </a:solidFill>
                <a:latin typeface="Liberation Sans"/>
              </a:rPr>
              <a:t>9</a:t>
            </a:r>
            <a:r>
              <a:rPr lang="ru-RU" sz="1800" b="1" smtClean="0">
                <a:solidFill>
                  <a:srgbClr val="2563EB"/>
                </a:solidFill>
                <a:latin typeface="Liberation Sans"/>
              </a:rPr>
              <a:t>. </a:t>
            </a:r>
            <a:r>
              <a:rPr sz="1800" b="1" smtClean="0">
                <a:solidFill>
                  <a:srgbClr val="2563EB"/>
                </a:solidFill>
                <a:latin typeface="Liberation Sans"/>
              </a:rPr>
              <a:t>ИТОГОВОЕ </a:t>
            </a:r>
            <a:r>
              <a:rPr sz="1800" b="1">
                <a:solidFill>
                  <a:srgbClr val="2563EB"/>
                </a:solidFill>
                <a:latin typeface="Liberation Sans"/>
              </a:rPr>
              <a:t>СРАВНЕНИЕ АРХИТЕКТУР ПО МЕТРИКЕ MCC</a:t>
            </a:r>
          </a:p>
          <a:p>
            <a:pPr algn="ctr"/>
            <a:r>
              <a:rPr sz="2100" b="1">
                <a:solidFill>
                  <a:srgbClr val="0F172A"/>
                </a:solidFill>
                <a:latin typeface="Liberation Sans"/>
              </a:rPr>
              <a:t>Сводный рейтинг всех 7 моделей по 10-Fold CV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669306"/>
              </p:ext>
            </p:extLst>
          </p:nvPr>
        </p:nvGraphicFramePr>
        <p:xfrm>
          <a:off x="548640" y="1508760"/>
          <a:ext cx="8023866" cy="3129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310"/>
                <a:gridCol w="1900238"/>
                <a:gridCol w="2381251"/>
                <a:gridCol w="938217"/>
                <a:gridCol w="1131570"/>
                <a:gridCol w="1097280"/>
              </a:tblGrid>
              <a:tr h="388620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8FAFC"/>
                          </a:solidFill>
                          <a:latin typeface="Liberation Sans"/>
                        </a:rPr>
                        <a:t>Место</a:t>
                      </a: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Liberation Sans"/>
                        </a:rPr>
                        <a:t>Модель / Архитектура</a:t>
                      </a: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Liberation Sans"/>
                        </a:rPr>
                        <a:t>Входные признаки</a:t>
                      </a: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8FAFC"/>
                          </a:solidFill>
                          <a:latin typeface="Liberation Sans"/>
                        </a:rPr>
                        <a:t>Accuracy</a:t>
                      </a:r>
                      <a:endParaRPr sz="1100" b="1">
                        <a:solidFill>
                          <a:srgbClr val="F8FAFC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8FAFC"/>
                          </a:solidFill>
                          <a:latin typeface="Liberation Sans"/>
                        </a:rPr>
                        <a:t>F1-score</a:t>
                      </a:r>
                      <a:endParaRPr sz="1100" b="1">
                        <a:solidFill>
                          <a:srgbClr val="F8FAFC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8FAFC"/>
                          </a:solidFill>
                          <a:latin typeface="Liberation Sans"/>
                        </a:rPr>
                        <a:t>MCC</a:t>
                      </a:r>
                      <a:endParaRPr sz="1100" b="1">
                        <a:solidFill>
                          <a:srgbClr val="F8FAFC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0000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0000"/>
                          </a:solidFill>
                          <a:latin typeface="Liberation Sans"/>
                        </a:rPr>
                        <a:t>CNN + Transformer (Лидер)</a:t>
                      </a: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0000"/>
                          </a:solidFill>
                          <a:latin typeface="Liberation Sans"/>
                        </a:rPr>
                        <a:t>3 канала: Mel + Δ + ΔΔ (128×256)</a:t>
                      </a: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F0000"/>
                          </a:solidFill>
                          <a:latin typeface="Liberation Sans"/>
                        </a:rPr>
                        <a:t>0.6764</a:t>
                      </a:r>
                      <a:endParaRPr sz="1100" b="1">
                        <a:solidFill>
                          <a:srgbClr val="FF000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F0000"/>
                          </a:solidFill>
                          <a:latin typeface="Liberation Sans"/>
                        </a:rPr>
                        <a:t>0.6919</a:t>
                      </a:r>
                      <a:endParaRPr sz="1100" b="1">
                        <a:solidFill>
                          <a:srgbClr val="FF000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FF0000"/>
                          </a:solidFill>
                          <a:latin typeface="Liberation Sans"/>
                        </a:rPr>
                        <a:t>0.6405</a:t>
                      </a:r>
                      <a:endParaRPr sz="1100" b="1">
                        <a:solidFill>
                          <a:srgbClr val="FF000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DBEAFE"/>
                    </a:solidFill>
                  </a:tcPr>
                </a:tc>
              </a:tr>
              <a:tr h="3686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ResNet18 (torchvision)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3 канала: Mel + Δ + ΔΔ (128×256)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0.6601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0.6641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0.6237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B050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B050"/>
                          </a:solidFill>
                          <a:latin typeface="Liberation Sans"/>
                        </a:rPr>
                        <a:t>Random Forest (Baseline)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B050"/>
                          </a:solidFill>
                          <a:latin typeface="Liberation Sans"/>
                        </a:rPr>
                        <a:t>60 табличных признаков (mean/std)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0B050"/>
                          </a:solidFill>
                          <a:latin typeface="Liberation Sans"/>
                        </a:rPr>
                        <a:t>0.6613</a:t>
                      </a:r>
                      <a:endParaRPr sz="1100" b="1">
                        <a:solidFill>
                          <a:srgbClr val="00B05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0B050"/>
                          </a:solidFill>
                          <a:latin typeface="Liberation Sans"/>
                        </a:rPr>
                        <a:t>0.6691</a:t>
                      </a:r>
                      <a:endParaRPr sz="1100" b="1">
                        <a:solidFill>
                          <a:srgbClr val="00B05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0B050"/>
                          </a:solidFill>
                          <a:latin typeface="Liberation Sans"/>
                        </a:rPr>
                        <a:t>0.6228</a:t>
                      </a:r>
                      <a:endParaRPr sz="1100" b="1">
                        <a:solidFill>
                          <a:srgbClr val="00B050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SVM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60 табличных признаков (mean/std)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0.6586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0.6667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0.6202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Logistic Regression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60 табличных признаков (mean/std)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0.6246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0.6351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0.5809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</a:tr>
              <a:tr h="3686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SSF + BiLSTM (2 слоя)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180 кадров × 155 признаков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0.6077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0.6186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0.5635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7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AudioCNN (базовая сеть)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Liberation Sans"/>
                        </a:rPr>
                        <a:t>1 канал: Mel-spectrogram </a:t>
                      </a:r>
                      <a:r>
                        <a:rPr sz="1000" b="1">
                          <a:solidFill>
                            <a:srgbClr val="0F172A"/>
                          </a:solidFill>
                          <a:latin typeface="Liberation Sans"/>
                        </a:rPr>
                        <a:t>(128×256)</a:t>
                      </a: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0.5449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0.5549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smtClean="0">
                          <a:solidFill>
                            <a:srgbClr val="0F172A"/>
                          </a:solidFill>
                          <a:latin typeface="Liberation Sans"/>
                        </a:rPr>
                        <a:t>0.4950</a:t>
                      </a:r>
                      <a:endParaRPr sz="1100" b="1">
                        <a:solidFill>
                          <a:srgbClr val="0F172A"/>
                        </a:solidFill>
                        <a:latin typeface="Liberation Sans"/>
                      </a:endParaRPr>
                    </a:p>
                  </a:txBody>
                  <a:tcPr marL="68580" marR="68580" marT="34290" marB="34290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1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1015" y="271462"/>
            <a:ext cx="8382924" cy="44291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2400" b="1" smtClean="0">
                <a:solidFill>
                  <a:srgbClr val="FFC000"/>
                </a:solidFill>
                <a:latin typeface="Liberation Sans"/>
              </a:rPr>
              <a:t>Выводы:</a:t>
            </a:r>
          </a:p>
          <a:p>
            <a:pPr>
              <a:spcAft>
                <a:spcPts val="300"/>
              </a:spcAft>
            </a:pPr>
            <a:endParaRPr lang="ru-RU" sz="2400" b="1" smtClean="0">
              <a:solidFill>
                <a:srgbClr val="2563EB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1.   По итогу наших исследований Модель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CNN+Transformer</a:t>
            </a:r>
            <a:endParaRPr lang="ru-RU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 стала лидером классификации звуков.</a:t>
            </a:r>
          </a:p>
          <a:p>
            <a:pPr>
              <a:spcAft>
                <a:spcPts val="300"/>
              </a:spcAft>
            </a:pPr>
            <a:endParaRPr lang="ru-RU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2.   Сырые спектрограммы (только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Mel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)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работают плохо.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Извлечение временной динамики через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Delta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и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Delta-Delta</a:t>
            </a:r>
          </a:p>
          <a:p>
            <a:pPr>
              <a:spcAft>
                <a:spcPts val="300"/>
              </a:spcAft>
            </a:pPr>
            <a:r>
              <a:rPr lang="en-US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   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очень важно для качества (скачок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MMC c 0.49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до 0.62)</a:t>
            </a:r>
          </a:p>
          <a:p>
            <a:pPr>
              <a:spcAft>
                <a:spcPts val="300"/>
              </a:spcAft>
            </a:pPr>
            <a:endParaRPr lang="ru-RU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3.   Свёрточные сети (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CNN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)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идеально извлекают локальные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паттерны, но именно Трансформер собирает из них 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осмысленную последовательность</a:t>
            </a:r>
          </a:p>
          <a:p>
            <a:pPr>
              <a:spcAft>
                <a:spcPts val="300"/>
              </a:spcAft>
            </a:pPr>
            <a:endParaRPr lang="ru-RU" sz="1200" b="1" smtClean="0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4.   Рассчеты производились на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Colab Pro c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граф.процессором и на 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большом объёме памяти, на обычном </a:t>
            </a:r>
            <a:r>
              <a:rPr lang="en-US" sz="1200" b="1" smtClean="0">
                <a:solidFill>
                  <a:schemeClr val="bg1"/>
                </a:solidFill>
                <a:latin typeface="Liberation Sans"/>
              </a:rPr>
              <a:t>Colab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было бы невозможно.</a:t>
            </a:r>
          </a:p>
          <a:p>
            <a:pPr>
              <a:spcAft>
                <a:spcPts val="300"/>
              </a:spcAft>
            </a:pPr>
            <a:endParaRPr lang="ru-RU" sz="1200" b="1">
              <a:solidFill>
                <a:schemeClr val="bg1"/>
              </a:solidFill>
              <a:latin typeface="Liberation Sans"/>
            </a:endParaRPr>
          </a:p>
          <a:p>
            <a:pPr>
              <a:spcAft>
                <a:spcPts val="300"/>
              </a:spcAft>
            </a:pP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5.   Хотелось бы попробовать другие гибридные модели, чтобы улучшить </a:t>
            </a:r>
          </a:p>
          <a:p>
            <a:pPr>
              <a:spcAft>
                <a:spcPts val="300"/>
              </a:spcAft>
            </a:pPr>
            <a:r>
              <a:rPr lang="ru-RU" sz="1200" b="1">
                <a:solidFill>
                  <a:schemeClr val="bg1"/>
                </a:solidFill>
                <a:latin typeface="Liberation Sans"/>
              </a:rPr>
              <a:t> </a:t>
            </a:r>
            <a:r>
              <a:rPr lang="ru-RU" sz="1200" b="1" smtClean="0">
                <a:solidFill>
                  <a:schemeClr val="bg1"/>
                </a:solidFill>
                <a:latin typeface="Liberation Sans"/>
              </a:rPr>
              <a:t>     метрики, но на это нужно больше времени</a:t>
            </a:r>
          </a:p>
          <a:p>
            <a:pPr>
              <a:spcAft>
                <a:spcPts val="300"/>
              </a:spcAft>
            </a:pPr>
            <a:endParaRPr sz="2100" b="1">
              <a:solidFill>
                <a:srgbClr val="0F172A"/>
              </a:solidFill>
              <a:latin typeface="Liberation San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6" y="1739147"/>
            <a:ext cx="1699374" cy="174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8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1560</Words>
  <Application>Microsoft Office PowerPoint</Application>
  <PresentationFormat>Экран (16:9)</PresentationFormat>
  <Paragraphs>286</Paragraphs>
  <Slides>27</Slides>
  <Notes>8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Roboto Medium</vt:lpstr>
      <vt:lpstr>Courier New</vt:lpstr>
      <vt:lpstr>Calibri</vt:lpstr>
      <vt:lpstr>Roboto</vt:lpstr>
      <vt:lpstr>Liberation Sans</vt:lpstr>
      <vt:lpstr>Times New Roman</vt:lpstr>
      <vt:lpstr>Arial</vt:lpstr>
      <vt:lpstr>Светлая тема</vt:lpstr>
      <vt:lpstr>Светлая тема</vt:lpstr>
      <vt:lpstr>Презентация PowerPoint</vt:lpstr>
      <vt:lpstr>Презентация PowerPoint</vt:lpstr>
      <vt:lpstr>План защиты</vt:lpstr>
      <vt:lpstr>Цель проекта и постановка задачи </vt:lpstr>
      <vt:lpstr>       Датасет UrbanSound8K: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Jura</dc:creator>
  <cp:lastModifiedBy>Jura</cp:lastModifiedBy>
  <cp:revision>100</cp:revision>
  <dcterms:modified xsi:type="dcterms:W3CDTF">2026-10-25T09:50:10Z</dcterms:modified>
</cp:coreProperties>
</file>